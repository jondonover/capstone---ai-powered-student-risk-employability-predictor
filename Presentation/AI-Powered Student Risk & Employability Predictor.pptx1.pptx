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2"/>
  </p:notesMasterIdLst>
  <p:sldIdLst>
    <p:sldId id="256" r:id="rId5"/>
    <p:sldId id="283" r:id="rId6"/>
    <p:sldId id="257" r:id="rId7"/>
    <p:sldId id="290" r:id="rId8"/>
    <p:sldId id="291" r:id="rId9"/>
    <p:sldId id="297" r:id="rId10"/>
    <p:sldId id="293" r:id="rId11"/>
    <p:sldId id="292" r:id="rId12"/>
    <p:sldId id="295" r:id="rId13"/>
    <p:sldId id="296" r:id="rId14"/>
    <p:sldId id="294" r:id="rId15"/>
    <p:sldId id="287" r:id="rId16"/>
    <p:sldId id="284" r:id="rId17"/>
    <p:sldId id="286" r:id="rId18"/>
    <p:sldId id="289" r:id="rId19"/>
    <p:sldId id="288"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83"/>
            <p14:sldId id="257"/>
            <p14:sldId id="290"/>
            <p14:sldId id="291"/>
            <p14:sldId id="297"/>
            <p14:sldId id="293"/>
            <p14:sldId id="292"/>
            <p14:sldId id="295"/>
            <p14:sldId id="296"/>
            <p14:sldId id="294"/>
            <p14:sldId id="287"/>
            <p14:sldId id="284"/>
            <p14:sldId id="286"/>
            <p14:sldId id="289"/>
            <p14:sldId id="288"/>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8B47"/>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98" autoAdjust="0"/>
  </p:normalViewPr>
  <p:slideViewPr>
    <p:cSldViewPr snapToGrid="0">
      <p:cViewPr>
        <p:scale>
          <a:sx n="75" d="100"/>
          <a:sy n="75" d="100"/>
        </p:scale>
        <p:origin x="54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BB7506-B631-4EBF-ACFF-F2EF14C88950}" type="doc">
      <dgm:prSet loTypeId="urn:microsoft.com/office/officeart/2005/8/layout/process1" loCatId="process" qsTypeId="urn:microsoft.com/office/officeart/2005/8/quickstyle/simple1" qsCatId="simple" csTypeId="urn:microsoft.com/office/officeart/2005/8/colors/accent2_1" csCatId="accent2"/>
      <dgm:spPr/>
      <dgm:t>
        <a:bodyPr/>
        <a:lstStyle/>
        <a:p>
          <a:endParaRPr lang="en-GB"/>
        </a:p>
      </dgm:t>
    </dgm:pt>
    <dgm:pt modelId="{A1D7A999-9990-4C93-BCE8-3A389C63AA57}">
      <dgm:prSet/>
      <dgm:spPr/>
      <dgm:t>
        <a:bodyPr/>
        <a:lstStyle/>
        <a:p>
          <a:r>
            <a:rPr lang="en-US" dirty="0"/>
            <a:t>“If a predictive algorithm scores a student’s academic performance and employability based on historical data, does the system act as an objective diagnostic tool, or does it become a self-fulfilling prophecy that restricts a student's actual potential and career trajectory?”</a:t>
          </a:r>
          <a:endParaRPr lang="en-GB" dirty="0"/>
        </a:p>
      </dgm:t>
    </dgm:pt>
    <dgm:pt modelId="{2F91AB8F-C095-4DD3-A737-3ABADE84D940}" type="parTrans" cxnId="{358ED9CC-CD47-4B01-A028-4C74FD820CA0}">
      <dgm:prSet/>
      <dgm:spPr/>
      <dgm:t>
        <a:bodyPr/>
        <a:lstStyle/>
        <a:p>
          <a:endParaRPr lang="en-GB"/>
        </a:p>
      </dgm:t>
    </dgm:pt>
    <dgm:pt modelId="{363E0D6A-7681-4EB1-A44D-211EEEED00AC}" type="sibTrans" cxnId="{358ED9CC-CD47-4B01-A028-4C74FD820CA0}">
      <dgm:prSet/>
      <dgm:spPr/>
      <dgm:t>
        <a:bodyPr/>
        <a:lstStyle/>
        <a:p>
          <a:endParaRPr lang="en-GB"/>
        </a:p>
      </dgm:t>
    </dgm:pt>
    <dgm:pt modelId="{29A94D01-4E55-47CF-990C-7F87714E4907}" type="pres">
      <dgm:prSet presAssocID="{AEBB7506-B631-4EBF-ACFF-F2EF14C88950}" presName="Name0" presStyleCnt="0">
        <dgm:presLayoutVars>
          <dgm:dir/>
          <dgm:resizeHandles val="exact"/>
        </dgm:presLayoutVars>
      </dgm:prSet>
      <dgm:spPr/>
    </dgm:pt>
    <dgm:pt modelId="{D9D75E3E-7931-4697-9D2A-F0B550835999}" type="pres">
      <dgm:prSet presAssocID="{A1D7A999-9990-4C93-BCE8-3A389C63AA57}" presName="node" presStyleLbl="node1" presStyleIdx="0" presStyleCnt="1" custLinFactNeighborX="-15493">
        <dgm:presLayoutVars>
          <dgm:bulletEnabled val="1"/>
        </dgm:presLayoutVars>
      </dgm:prSet>
      <dgm:spPr/>
    </dgm:pt>
  </dgm:ptLst>
  <dgm:cxnLst>
    <dgm:cxn modelId="{3922239B-BC76-4860-9127-AAFA6831C39E}" type="presOf" srcId="{AEBB7506-B631-4EBF-ACFF-F2EF14C88950}" destId="{29A94D01-4E55-47CF-990C-7F87714E4907}" srcOrd="0" destOrd="0" presId="urn:microsoft.com/office/officeart/2005/8/layout/process1"/>
    <dgm:cxn modelId="{358ED9CC-CD47-4B01-A028-4C74FD820CA0}" srcId="{AEBB7506-B631-4EBF-ACFF-F2EF14C88950}" destId="{A1D7A999-9990-4C93-BCE8-3A389C63AA57}" srcOrd="0" destOrd="0" parTransId="{2F91AB8F-C095-4DD3-A737-3ABADE84D940}" sibTransId="{363E0D6A-7681-4EB1-A44D-211EEEED00AC}"/>
    <dgm:cxn modelId="{7CA78DDC-7509-4D75-9B36-088C6863171E}" type="presOf" srcId="{A1D7A999-9990-4C93-BCE8-3A389C63AA57}" destId="{D9D75E3E-7931-4697-9D2A-F0B550835999}" srcOrd="0" destOrd="0" presId="urn:microsoft.com/office/officeart/2005/8/layout/process1"/>
    <dgm:cxn modelId="{F2EAA3BA-F7F4-4CFD-B488-8EB0C43DCFC1}" type="presParOf" srcId="{29A94D01-4E55-47CF-990C-7F87714E4907}" destId="{D9D75E3E-7931-4697-9D2A-F0B550835999}" srcOrd="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2172D1-F82A-43AA-9E62-0DBF03793AF0}" type="doc">
      <dgm:prSet loTypeId="urn:microsoft.com/office/officeart/2005/8/layout/process1" loCatId="process" qsTypeId="urn:microsoft.com/office/officeart/2005/8/quickstyle/simple1" qsCatId="simple" csTypeId="urn:microsoft.com/office/officeart/2005/8/colors/accent2_1" csCatId="accent2" phldr="1"/>
      <dgm:spPr/>
      <dgm:t>
        <a:bodyPr/>
        <a:lstStyle/>
        <a:p>
          <a:endParaRPr lang="en-GB"/>
        </a:p>
      </dgm:t>
    </dgm:pt>
    <dgm:pt modelId="{54278458-5EC0-47AE-8040-A1E0F35358D6}">
      <dgm:prSet/>
      <dgm:spPr/>
      <dgm:t>
        <a:bodyPr/>
        <a:lstStyle/>
        <a:p>
          <a:r>
            <a:rPr lang="en-US" dirty="0"/>
            <a:t>Using academic and employability datasets we utilize machine learning classification to predict students academic outcome and assess professional readiness to facilitate early institutional intervention and personalized career guidance to develop a AI-powered student success platform. </a:t>
          </a:r>
          <a:endParaRPr lang="en-GB" dirty="0"/>
        </a:p>
      </dgm:t>
    </dgm:pt>
    <dgm:pt modelId="{A39B7446-9D42-41F1-B103-0D6BC9995444}" type="parTrans" cxnId="{273CC569-C47A-444E-9C95-75D58A52546D}">
      <dgm:prSet/>
      <dgm:spPr/>
      <dgm:t>
        <a:bodyPr/>
        <a:lstStyle/>
        <a:p>
          <a:endParaRPr lang="en-GB"/>
        </a:p>
      </dgm:t>
    </dgm:pt>
    <dgm:pt modelId="{A3B57396-E720-46DA-9333-D74D77480023}" type="sibTrans" cxnId="{273CC569-C47A-444E-9C95-75D58A52546D}">
      <dgm:prSet/>
      <dgm:spPr/>
      <dgm:t>
        <a:bodyPr/>
        <a:lstStyle/>
        <a:p>
          <a:endParaRPr lang="en-GB"/>
        </a:p>
      </dgm:t>
    </dgm:pt>
    <dgm:pt modelId="{03C57483-7976-479F-927D-02B3996E1388}" type="pres">
      <dgm:prSet presAssocID="{312172D1-F82A-43AA-9E62-0DBF03793AF0}" presName="Name0" presStyleCnt="0">
        <dgm:presLayoutVars>
          <dgm:dir/>
          <dgm:resizeHandles val="exact"/>
        </dgm:presLayoutVars>
      </dgm:prSet>
      <dgm:spPr/>
    </dgm:pt>
    <dgm:pt modelId="{7FB0DDC9-CB91-4F7C-BD34-1138074DB9C2}" type="pres">
      <dgm:prSet presAssocID="{54278458-5EC0-47AE-8040-A1E0F35358D6}" presName="node" presStyleLbl="node1" presStyleIdx="0" presStyleCnt="1" custLinFactNeighborX="-12836" custLinFactNeighborY="1261">
        <dgm:presLayoutVars>
          <dgm:bulletEnabled val="1"/>
        </dgm:presLayoutVars>
      </dgm:prSet>
      <dgm:spPr/>
    </dgm:pt>
  </dgm:ptLst>
  <dgm:cxnLst>
    <dgm:cxn modelId="{273CC569-C47A-444E-9C95-75D58A52546D}" srcId="{312172D1-F82A-43AA-9E62-0DBF03793AF0}" destId="{54278458-5EC0-47AE-8040-A1E0F35358D6}" srcOrd="0" destOrd="0" parTransId="{A39B7446-9D42-41F1-B103-0D6BC9995444}" sibTransId="{A3B57396-E720-46DA-9333-D74D77480023}"/>
    <dgm:cxn modelId="{CC2C0C77-D5AE-421D-A131-013DDB7C448B}" type="presOf" srcId="{54278458-5EC0-47AE-8040-A1E0F35358D6}" destId="{7FB0DDC9-CB91-4F7C-BD34-1138074DB9C2}" srcOrd="0" destOrd="0" presId="urn:microsoft.com/office/officeart/2005/8/layout/process1"/>
    <dgm:cxn modelId="{B8DC4EA7-0BA6-42DD-9DC3-C8E60600E424}" type="presOf" srcId="{312172D1-F82A-43AA-9E62-0DBF03793AF0}" destId="{03C57483-7976-479F-927D-02B3996E1388}" srcOrd="0" destOrd="0" presId="urn:microsoft.com/office/officeart/2005/8/layout/process1"/>
    <dgm:cxn modelId="{1DA1F2BE-C5DB-4FDE-BAC8-680CBA175D06}" type="presParOf" srcId="{03C57483-7976-479F-927D-02B3996E1388}" destId="{7FB0DDC9-CB91-4F7C-BD34-1138074DB9C2}"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68AC69-B8C9-4235-857F-94E42C44BF64}" type="doc">
      <dgm:prSet loTypeId="urn:microsoft.com/office/officeart/2005/8/layout/cycle2" loCatId="cycle" qsTypeId="urn:microsoft.com/office/officeart/2005/8/quickstyle/3d3" qsCatId="3D" csTypeId="urn:microsoft.com/office/officeart/2005/8/colors/colorful1" csCatId="colorful" phldr="1"/>
      <dgm:spPr/>
      <dgm:t>
        <a:bodyPr/>
        <a:lstStyle/>
        <a:p>
          <a:endParaRPr lang="en-GB"/>
        </a:p>
      </dgm:t>
    </dgm:pt>
    <dgm:pt modelId="{4B4CBE45-69F3-4522-834D-00416DF51999}">
      <dgm:prSet custT="1"/>
      <dgm:spPr/>
      <dgm:t>
        <a:bodyPr/>
        <a:lstStyle/>
        <a:p>
          <a:r>
            <a:rPr lang="en-US" sz="2000" dirty="0">
              <a:solidFill>
                <a:schemeClr val="tx1"/>
              </a:solidFill>
            </a:rPr>
            <a:t>1. What are the most significant predictors of student dropout?</a:t>
          </a:r>
          <a:endParaRPr lang="en-GB" sz="2000" dirty="0">
            <a:solidFill>
              <a:schemeClr val="tx1"/>
            </a:solidFill>
          </a:endParaRPr>
        </a:p>
      </dgm:t>
    </dgm:pt>
    <dgm:pt modelId="{5A674BB4-37DA-41E3-976B-A70073524692}" type="parTrans" cxnId="{7AE834C9-91C7-4F41-913F-E3388924660A}">
      <dgm:prSet/>
      <dgm:spPr/>
      <dgm:t>
        <a:bodyPr/>
        <a:lstStyle/>
        <a:p>
          <a:endParaRPr lang="en-GB"/>
        </a:p>
      </dgm:t>
    </dgm:pt>
    <dgm:pt modelId="{D97BADF1-D3D6-4E89-8178-6F8BA8A57325}" type="sibTrans" cxnId="{7AE834C9-91C7-4F41-913F-E3388924660A}">
      <dgm:prSet/>
      <dgm:spPr/>
      <dgm:t>
        <a:bodyPr/>
        <a:lstStyle/>
        <a:p>
          <a:endParaRPr lang="en-GB"/>
        </a:p>
      </dgm:t>
    </dgm:pt>
    <dgm:pt modelId="{1131693C-A613-485A-937C-467B8046C83C}">
      <dgm:prSet custT="1"/>
      <dgm:spPr/>
      <dgm:t>
        <a:bodyPr/>
        <a:lstStyle/>
        <a:p>
          <a:r>
            <a:rPr lang="en-US" sz="2000" dirty="0">
              <a:solidFill>
                <a:schemeClr val="tx1"/>
              </a:solidFill>
            </a:rPr>
            <a:t>2. How strongly do first-semester academic grades correlate with final graduation?</a:t>
          </a:r>
          <a:endParaRPr lang="en-GB" sz="2000" dirty="0">
            <a:solidFill>
              <a:schemeClr val="tx1"/>
            </a:solidFill>
          </a:endParaRPr>
        </a:p>
      </dgm:t>
    </dgm:pt>
    <dgm:pt modelId="{F3BE014D-1197-45FE-B987-EE0B2B67B84D}" type="parTrans" cxnId="{C784C992-3BD9-4638-8A69-7F8407D92C20}">
      <dgm:prSet/>
      <dgm:spPr/>
      <dgm:t>
        <a:bodyPr/>
        <a:lstStyle/>
        <a:p>
          <a:endParaRPr lang="en-GB"/>
        </a:p>
      </dgm:t>
    </dgm:pt>
    <dgm:pt modelId="{55EA7722-526B-48C9-87B3-2DA766C0FE41}" type="sibTrans" cxnId="{C784C992-3BD9-4638-8A69-7F8407D92C20}">
      <dgm:prSet/>
      <dgm:spPr/>
      <dgm:t>
        <a:bodyPr/>
        <a:lstStyle/>
        <a:p>
          <a:endParaRPr lang="en-GB"/>
        </a:p>
      </dgm:t>
    </dgm:pt>
    <dgm:pt modelId="{8E2ADC3A-8D2E-473E-BCBB-B70882CDCCB8}">
      <dgm:prSet custT="1"/>
      <dgm:spPr/>
      <dgm:t>
        <a:bodyPr/>
        <a:lstStyle/>
        <a:p>
          <a:r>
            <a:rPr lang="en-US" sz="2000" dirty="0">
              <a:solidFill>
                <a:schemeClr val="tx1"/>
              </a:solidFill>
            </a:rPr>
            <a:t>3. What impact do financial factors (scholarships and debt) have on student success?</a:t>
          </a:r>
          <a:endParaRPr lang="en-GB" sz="2000" dirty="0">
            <a:solidFill>
              <a:schemeClr val="tx1"/>
            </a:solidFill>
          </a:endParaRPr>
        </a:p>
      </dgm:t>
    </dgm:pt>
    <dgm:pt modelId="{2A69EA55-DAC9-4B14-9931-2644BA989986}" type="parTrans" cxnId="{C049F5F4-7FDA-423B-ADDB-6A9B3494A686}">
      <dgm:prSet/>
      <dgm:spPr/>
      <dgm:t>
        <a:bodyPr/>
        <a:lstStyle/>
        <a:p>
          <a:endParaRPr lang="en-GB"/>
        </a:p>
      </dgm:t>
    </dgm:pt>
    <dgm:pt modelId="{C935325E-F39B-43DD-8A4E-F9DE9A66DF42}" type="sibTrans" cxnId="{C049F5F4-7FDA-423B-ADDB-6A9B3494A686}">
      <dgm:prSet/>
      <dgm:spPr/>
      <dgm:t>
        <a:bodyPr/>
        <a:lstStyle/>
        <a:p>
          <a:endParaRPr lang="en-GB"/>
        </a:p>
      </dgm:t>
    </dgm:pt>
    <dgm:pt modelId="{C53FCFD2-3B98-4EE7-895B-07285666F2B6}">
      <dgm:prSet custT="1"/>
      <dgm:spPr/>
      <dgm:t>
        <a:bodyPr/>
        <a:lstStyle/>
        <a:p>
          <a:r>
            <a:rPr lang="en-US" sz="2000" dirty="0">
              <a:solidFill>
                <a:schemeClr val="tx1"/>
              </a:solidFill>
            </a:rPr>
            <a:t>4. Can we accurately predict a student's employability level based on their academic and technical skill profile?</a:t>
          </a:r>
          <a:endParaRPr lang="en-GB" sz="2000" dirty="0">
            <a:solidFill>
              <a:schemeClr val="tx1"/>
            </a:solidFill>
          </a:endParaRPr>
        </a:p>
      </dgm:t>
    </dgm:pt>
    <dgm:pt modelId="{59BE237F-4B2D-4D8A-B964-AD936E5B8A9E}" type="parTrans" cxnId="{9EFD2551-38B0-44ED-8BE5-95F68736A539}">
      <dgm:prSet/>
      <dgm:spPr/>
      <dgm:t>
        <a:bodyPr/>
        <a:lstStyle/>
        <a:p>
          <a:endParaRPr lang="en-GB"/>
        </a:p>
      </dgm:t>
    </dgm:pt>
    <dgm:pt modelId="{E8242DBA-2E7C-436D-94D7-2A01ECC8DCC0}" type="sibTrans" cxnId="{9EFD2551-38B0-44ED-8BE5-95F68736A539}">
      <dgm:prSet/>
      <dgm:spPr/>
      <dgm:t>
        <a:bodyPr/>
        <a:lstStyle/>
        <a:p>
          <a:endParaRPr lang="en-GB"/>
        </a:p>
      </dgm:t>
    </dgm:pt>
    <dgm:pt modelId="{5FAC6FF7-8D66-4127-B061-0AD4D2B99516}" type="pres">
      <dgm:prSet presAssocID="{4368AC69-B8C9-4235-857F-94E42C44BF64}" presName="cycle" presStyleCnt="0">
        <dgm:presLayoutVars>
          <dgm:dir/>
          <dgm:resizeHandles val="exact"/>
        </dgm:presLayoutVars>
      </dgm:prSet>
      <dgm:spPr/>
    </dgm:pt>
    <dgm:pt modelId="{FB39C01B-01B5-42CD-93EA-3F806123ACB6}" type="pres">
      <dgm:prSet presAssocID="{4B4CBE45-69F3-4522-834D-00416DF51999}" presName="node" presStyleLbl="node1" presStyleIdx="0" presStyleCnt="4" custScaleX="143494" custScaleY="137817" custRadScaleRad="90085" custRadScaleInc="42598">
        <dgm:presLayoutVars>
          <dgm:bulletEnabled val="1"/>
        </dgm:presLayoutVars>
      </dgm:prSet>
      <dgm:spPr/>
    </dgm:pt>
    <dgm:pt modelId="{98F3AB72-37DD-41B3-A65D-7C2A3DC5A065}" type="pres">
      <dgm:prSet presAssocID="{D97BADF1-D3D6-4E89-8178-6F8BA8A57325}" presName="sibTrans" presStyleLbl="sibTrans2D1" presStyleIdx="0" presStyleCnt="4"/>
      <dgm:spPr/>
    </dgm:pt>
    <dgm:pt modelId="{91E7297B-1A1F-4905-9CFF-4465AF5B2E56}" type="pres">
      <dgm:prSet presAssocID="{D97BADF1-D3D6-4E89-8178-6F8BA8A57325}" presName="connectorText" presStyleLbl="sibTrans2D1" presStyleIdx="0" presStyleCnt="4"/>
      <dgm:spPr/>
    </dgm:pt>
    <dgm:pt modelId="{3AD066E3-B1C9-4CD8-A879-551C5A6854FB}" type="pres">
      <dgm:prSet presAssocID="{1131693C-A613-485A-937C-467B8046C83C}" presName="node" presStyleLbl="node1" presStyleIdx="1" presStyleCnt="4" custScaleX="145674" custScaleY="186836" custRadScaleRad="220764" custRadScaleInc="-1385">
        <dgm:presLayoutVars>
          <dgm:bulletEnabled val="1"/>
        </dgm:presLayoutVars>
      </dgm:prSet>
      <dgm:spPr/>
    </dgm:pt>
    <dgm:pt modelId="{8891E104-DC25-458F-AB3D-0A03233CC496}" type="pres">
      <dgm:prSet presAssocID="{55EA7722-526B-48C9-87B3-2DA766C0FE41}" presName="sibTrans" presStyleLbl="sibTrans2D1" presStyleIdx="1" presStyleCnt="4"/>
      <dgm:spPr/>
    </dgm:pt>
    <dgm:pt modelId="{EAE4C63B-88C0-4818-AD06-2AF13EAC568B}" type="pres">
      <dgm:prSet presAssocID="{55EA7722-526B-48C9-87B3-2DA766C0FE41}" presName="connectorText" presStyleLbl="sibTrans2D1" presStyleIdx="1" presStyleCnt="4"/>
      <dgm:spPr/>
    </dgm:pt>
    <dgm:pt modelId="{48F7C0C4-281B-4D01-9D8E-A9FF4DB4EFBD}" type="pres">
      <dgm:prSet presAssocID="{8E2ADC3A-8D2E-473E-BCBB-B70882CDCCB8}" presName="node" presStyleLbl="node1" presStyleIdx="2" presStyleCnt="4" custScaleX="148178" custScaleY="161529" custRadScaleRad="87075" custRadScaleInc="-55823">
        <dgm:presLayoutVars>
          <dgm:bulletEnabled val="1"/>
        </dgm:presLayoutVars>
      </dgm:prSet>
      <dgm:spPr/>
    </dgm:pt>
    <dgm:pt modelId="{69A5D35F-468F-4E61-AF31-88F88448578C}" type="pres">
      <dgm:prSet presAssocID="{C935325E-F39B-43DD-8A4E-F9DE9A66DF42}" presName="sibTrans" presStyleLbl="sibTrans2D1" presStyleIdx="2" presStyleCnt="4"/>
      <dgm:spPr/>
    </dgm:pt>
    <dgm:pt modelId="{0CA74E9D-EB7E-4B43-B0DC-CC2C93825B02}" type="pres">
      <dgm:prSet presAssocID="{C935325E-F39B-43DD-8A4E-F9DE9A66DF42}" presName="connectorText" presStyleLbl="sibTrans2D1" presStyleIdx="2" presStyleCnt="4"/>
      <dgm:spPr/>
    </dgm:pt>
    <dgm:pt modelId="{D909B7B6-C520-4ADC-93CC-8E59D6154E37}" type="pres">
      <dgm:prSet presAssocID="{C53FCFD2-3B98-4EE7-895B-07285666F2B6}" presName="node" presStyleLbl="node1" presStyleIdx="3" presStyleCnt="4" custScaleX="153334" custScaleY="180896" custRadScaleRad="168282" custRadScaleInc="-6666">
        <dgm:presLayoutVars>
          <dgm:bulletEnabled val="1"/>
        </dgm:presLayoutVars>
      </dgm:prSet>
      <dgm:spPr/>
    </dgm:pt>
    <dgm:pt modelId="{C70F2F95-F54D-4CE7-9627-DE879690EE15}" type="pres">
      <dgm:prSet presAssocID="{E8242DBA-2E7C-436D-94D7-2A01ECC8DCC0}" presName="sibTrans" presStyleLbl="sibTrans2D1" presStyleIdx="3" presStyleCnt="4"/>
      <dgm:spPr/>
    </dgm:pt>
    <dgm:pt modelId="{CEB61683-90D1-4E63-806A-6585C0B2F447}" type="pres">
      <dgm:prSet presAssocID="{E8242DBA-2E7C-436D-94D7-2A01ECC8DCC0}" presName="connectorText" presStyleLbl="sibTrans2D1" presStyleIdx="3" presStyleCnt="4"/>
      <dgm:spPr/>
    </dgm:pt>
  </dgm:ptLst>
  <dgm:cxnLst>
    <dgm:cxn modelId="{FF6D3233-EC3F-4BC8-8391-802FEFD300D2}" type="presOf" srcId="{1131693C-A613-485A-937C-467B8046C83C}" destId="{3AD066E3-B1C9-4CD8-A879-551C5A6854FB}" srcOrd="0" destOrd="0" presId="urn:microsoft.com/office/officeart/2005/8/layout/cycle2"/>
    <dgm:cxn modelId="{A5A9FA39-BE15-40BC-A0A0-2C52E8698BFB}" type="presOf" srcId="{C935325E-F39B-43DD-8A4E-F9DE9A66DF42}" destId="{0CA74E9D-EB7E-4B43-B0DC-CC2C93825B02}" srcOrd="1" destOrd="0" presId="urn:microsoft.com/office/officeart/2005/8/layout/cycle2"/>
    <dgm:cxn modelId="{923AA044-5524-4A51-BD83-FDCF9AA318EB}" type="presOf" srcId="{C935325E-F39B-43DD-8A4E-F9DE9A66DF42}" destId="{69A5D35F-468F-4E61-AF31-88F88448578C}" srcOrd="0" destOrd="0" presId="urn:microsoft.com/office/officeart/2005/8/layout/cycle2"/>
    <dgm:cxn modelId="{45388967-3B88-41FB-8BD7-9239A3CB8F94}" type="presOf" srcId="{E8242DBA-2E7C-436D-94D7-2A01ECC8DCC0}" destId="{CEB61683-90D1-4E63-806A-6585C0B2F447}" srcOrd="1" destOrd="0" presId="urn:microsoft.com/office/officeart/2005/8/layout/cycle2"/>
    <dgm:cxn modelId="{1501786D-4DD7-4516-B23E-F836BE7A38C2}" type="presOf" srcId="{D97BADF1-D3D6-4E89-8178-6F8BA8A57325}" destId="{98F3AB72-37DD-41B3-A65D-7C2A3DC5A065}" srcOrd="0" destOrd="0" presId="urn:microsoft.com/office/officeart/2005/8/layout/cycle2"/>
    <dgm:cxn modelId="{9EFD2551-38B0-44ED-8BE5-95F68736A539}" srcId="{4368AC69-B8C9-4235-857F-94E42C44BF64}" destId="{C53FCFD2-3B98-4EE7-895B-07285666F2B6}" srcOrd="3" destOrd="0" parTransId="{59BE237F-4B2D-4D8A-B964-AD936E5B8A9E}" sibTransId="{E8242DBA-2E7C-436D-94D7-2A01ECC8DCC0}"/>
    <dgm:cxn modelId="{DD4F438B-DA63-4E3B-9A94-8337EA2D6DB6}" type="presOf" srcId="{8E2ADC3A-8D2E-473E-BCBB-B70882CDCCB8}" destId="{48F7C0C4-281B-4D01-9D8E-A9FF4DB4EFBD}" srcOrd="0" destOrd="0" presId="urn:microsoft.com/office/officeart/2005/8/layout/cycle2"/>
    <dgm:cxn modelId="{C784C992-3BD9-4638-8A69-7F8407D92C20}" srcId="{4368AC69-B8C9-4235-857F-94E42C44BF64}" destId="{1131693C-A613-485A-937C-467B8046C83C}" srcOrd="1" destOrd="0" parTransId="{F3BE014D-1197-45FE-B987-EE0B2B67B84D}" sibTransId="{55EA7722-526B-48C9-87B3-2DA766C0FE41}"/>
    <dgm:cxn modelId="{7247C096-B593-4C9B-AAC8-3671558E5525}" type="presOf" srcId="{4368AC69-B8C9-4235-857F-94E42C44BF64}" destId="{5FAC6FF7-8D66-4127-B061-0AD4D2B99516}" srcOrd="0" destOrd="0" presId="urn:microsoft.com/office/officeart/2005/8/layout/cycle2"/>
    <dgm:cxn modelId="{10A4099D-E6B1-4930-8B44-312A9212AB29}" type="presOf" srcId="{55EA7722-526B-48C9-87B3-2DA766C0FE41}" destId="{EAE4C63B-88C0-4818-AD06-2AF13EAC568B}" srcOrd="1" destOrd="0" presId="urn:microsoft.com/office/officeart/2005/8/layout/cycle2"/>
    <dgm:cxn modelId="{D3E132A1-1726-4610-B599-D01850AC0820}" type="presOf" srcId="{D97BADF1-D3D6-4E89-8178-6F8BA8A57325}" destId="{91E7297B-1A1F-4905-9CFF-4465AF5B2E56}" srcOrd="1" destOrd="0" presId="urn:microsoft.com/office/officeart/2005/8/layout/cycle2"/>
    <dgm:cxn modelId="{BBE7C4A4-DA96-487E-B0A0-2E85476D908F}" type="presOf" srcId="{55EA7722-526B-48C9-87B3-2DA766C0FE41}" destId="{8891E104-DC25-458F-AB3D-0A03233CC496}" srcOrd="0" destOrd="0" presId="urn:microsoft.com/office/officeart/2005/8/layout/cycle2"/>
    <dgm:cxn modelId="{1BB6BDA9-1F86-4C12-99D2-B4B7968F4833}" type="presOf" srcId="{E8242DBA-2E7C-436D-94D7-2A01ECC8DCC0}" destId="{C70F2F95-F54D-4CE7-9627-DE879690EE15}" srcOrd="0" destOrd="0" presId="urn:microsoft.com/office/officeart/2005/8/layout/cycle2"/>
    <dgm:cxn modelId="{61A69DB7-21A6-49B7-BB75-37564AB29DCC}" type="presOf" srcId="{4B4CBE45-69F3-4522-834D-00416DF51999}" destId="{FB39C01B-01B5-42CD-93EA-3F806123ACB6}" srcOrd="0" destOrd="0" presId="urn:microsoft.com/office/officeart/2005/8/layout/cycle2"/>
    <dgm:cxn modelId="{A778DAC3-9FA7-40E2-90C7-76BDC824DCF0}" type="presOf" srcId="{C53FCFD2-3B98-4EE7-895B-07285666F2B6}" destId="{D909B7B6-C520-4ADC-93CC-8E59D6154E37}" srcOrd="0" destOrd="0" presId="urn:microsoft.com/office/officeart/2005/8/layout/cycle2"/>
    <dgm:cxn modelId="{7AE834C9-91C7-4F41-913F-E3388924660A}" srcId="{4368AC69-B8C9-4235-857F-94E42C44BF64}" destId="{4B4CBE45-69F3-4522-834D-00416DF51999}" srcOrd="0" destOrd="0" parTransId="{5A674BB4-37DA-41E3-976B-A70073524692}" sibTransId="{D97BADF1-D3D6-4E89-8178-6F8BA8A57325}"/>
    <dgm:cxn modelId="{C049F5F4-7FDA-423B-ADDB-6A9B3494A686}" srcId="{4368AC69-B8C9-4235-857F-94E42C44BF64}" destId="{8E2ADC3A-8D2E-473E-BCBB-B70882CDCCB8}" srcOrd="2" destOrd="0" parTransId="{2A69EA55-DAC9-4B14-9931-2644BA989986}" sibTransId="{C935325E-F39B-43DD-8A4E-F9DE9A66DF42}"/>
    <dgm:cxn modelId="{33402F52-B02E-443A-9EF6-96EC913D923E}" type="presParOf" srcId="{5FAC6FF7-8D66-4127-B061-0AD4D2B99516}" destId="{FB39C01B-01B5-42CD-93EA-3F806123ACB6}" srcOrd="0" destOrd="0" presId="urn:microsoft.com/office/officeart/2005/8/layout/cycle2"/>
    <dgm:cxn modelId="{AA30AD08-4D38-4029-9378-7A4F336AB073}" type="presParOf" srcId="{5FAC6FF7-8D66-4127-B061-0AD4D2B99516}" destId="{98F3AB72-37DD-41B3-A65D-7C2A3DC5A065}" srcOrd="1" destOrd="0" presId="urn:microsoft.com/office/officeart/2005/8/layout/cycle2"/>
    <dgm:cxn modelId="{D7F5530D-9D73-4EA8-874F-8B50A439D7F3}" type="presParOf" srcId="{98F3AB72-37DD-41B3-A65D-7C2A3DC5A065}" destId="{91E7297B-1A1F-4905-9CFF-4465AF5B2E56}" srcOrd="0" destOrd="0" presId="urn:microsoft.com/office/officeart/2005/8/layout/cycle2"/>
    <dgm:cxn modelId="{24C8997F-CB08-4722-BD06-36A9B7DE231C}" type="presParOf" srcId="{5FAC6FF7-8D66-4127-B061-0AD4D2B99516}" destId="{3AD066E3-B1C9-4CD8-A879-551C5A6854FB}" srcOrd="2" destOrd="0" presId="urn:microsoft.com/office/officeart/2005/8/layout/cycle2"/>
    <dgm:cxn modelId="{AFB100A5-79FD-48AD-86C7-E51E8FE5BB11}" type="presParOf" srcId="{5FAC6FF7-8D66-4127-B061-0AD4D2B99516}" destId="{8891E104-DC25-458F-AB3D-0A03233CC496}" srcOrd="3" destOrd="0" presId="urn:microsoft.com/office/officeart/2005/8/layout/cycle2"/>
    <dgm:cxn modelId="{92D3FFAA-DD12-44D5-870C-27AD7B589E31}" type="presParOf" srcId="{8891E104-DC25-458F-AB3D-0A03233CC496}" destId="{EAE4C63B-88C0-4818-AD06-2AF13EAC568B}" srcOrd="0" destOrd="0" presId="urn:microsoft.com/office/officeart/2005/8/layout/cycle2"/>
    <dgm:cxn modelId="{6DD6B286-5C75-4831-B093-3051B50DD719}" type="presParOf" srcId="{5FAC6FF7-8D66-4127-B061-0AD4D2B99516}" destId="{48F7C0C4-281B-4D01-9D8E-A9FF4DB4EFBD}" srcOrd="4" destOrd="0" presId="urn:microsoft.com/office/officeart/2005/8/layout/cycle2"/>
    <dgm:cxn modelId="{FF539746-3D80-4C4C-BB78-A9AA22F88B78}" type="presParOf" srcId="{5FAC6FF7-8D66-4127-B061-0AD4D2B99516}" destId="{69A5D35F-468F-4E61-AF31-88F88448578C}" srcOrd="5" destOrd="0" presId="urn:microsoft.com/office/officeart/2005/8/layout/cycle2"/>
    <dgm:cxn modelId="{2BF10EA9-3D6B-4876-8193-37CBA8F89AF1}" type="presParOf" srcId="{69A5D35F-468F-4E61-AF31-88F88448578C}" destId="{0CA74E9D-EB7E-4B43-B0DC-CC2C93825B02}" srcOrd="0" destOrd="0" presId="urn:microsoft.com/office/officeart/2005/8/layout/cycle2"/>
    <dgm:cxn modelId="{9B49210F-C164-41E5-8DB7-30595E0533E5}" type="presParOf" srcId="{5FAC6FF7-8D66-4127-B061-0AD4D2B99516}" destId="{D909B7B6-C520-4ADC-93CC-8E59D6154E37}" srcOrd="6" destOrd="0" presId="urn:microsoft.com/office/officeart/2005/8/layout/cycle2"/>
    <dgm:cxn modelId="{06669338-C892-431E-A552-197E2E16C575}" type="presParOf" srcId="{5FAC6FF7-8D66-4127-B061-0AD4D2B99516}" destId="{C70F2F95-F54D-4CE7-9627-DE879690EE15}" srcOrd="7" destOrd="0" presId="urn:microsoft.com/office/officeart/2005/8/layout/cycle2"/>
    <dgm:cxn modelId="{4C9CEA5A-B52E-4D4B-B768-5FCFEB6623BB}" type="presParOf" srcId="{C70F2F95-F54D-4CE7-9627-DE879690EE15}" destId="{CEB61683-90D1-4E63-806A-6585C0B2F447}"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1F7ED59-40BE-4A77-9B1C-AC4B31F12EC3}" type="doc">
      <dgm:prSet loTypeId="urn:microsoft.com/office/officeart/2005/8/layout/vList2" loCatId="list" qsTypeId="urn:microsoft.com/office/officeart/2005/8/quickstyle/simple3" qsCatId="simple" csTypeId="urn:microsoft.com/office/officeart/2005/8/colors/accent2_1" csCatId="accent2" phldr="1"/>
      <dgm:spPr/>
      <dgm:t>
        <a:bodyPr/>
        <a:lstStyle/>
        <a:p>
          <a:endParaRPr lang="en-GB"/>
        </a:p>
      </dgm:t>
    </dgm:pt>
    <dgm:pt modelId="{31A50688-9077-4DF5-9C5B-1F70260F7453}">
      <dgm:prSet custT="1"/>
      <dgm:spPr>
        <a:solidFill>
          <a:schemeClr val="accent2">
            <a:lumMod val="60000"/>
            <a:lumOff val="40000"/>
          </a:schemeClr>
        </a:solidFill>
        <a:ln>
          <a:solidFill>
            <a:schemeClr val="accent2">
              <a:lumMod val="20000"/>
              <a:lumOff val="80000"/>
            </a:schemeClr>
          </a:solidFill>
        </a:ln>
      </dgm:spPr>
      <dgm:t>
        <a:bodyPr/>
        <a:lstStyle/>
        <a:p>
          <a:r>
            <a:rPr lang="en-US" sz="1800" b="1" dirty="0"/>
            <a:t>1. What are the most significant predictors of student dropout?</a:t>
          </a:r>
          <a:endParaRPr lang="en-US" sz="1800" dirty="0"/>
        </a:p>
        <a:p>
          <a:r>
            <a:rPr lang="en-US" sz="1800" dirty="0"/>
            <a:t>Based on graphic analysis shown above, the most powerful predictor of dropout is a lack of </a:t>
          </a:r>
          <a:r>
            <a:rPr lang="en-US" sz="1800" dirty="0">
              <a:highlight>
                <a:srgbClr val="FFFF00"/>
              </a:highlight>
            </a:rPr>
            <a:t>academic momentum (low total_units_approved)</a:t>
          </a:r>
          <a:r>
            <a:rPr lang="en-US" sz="1800" dirty="0"/>
            <a:t>. Failing to secure passing grades in the first semester pushes the AI’s risk-prediction model heavily towards “Dropout”. Secondary drivers are demographic (age_at_enrollment) and financial (debtor status). Therefore, intervention must happen during the first 6 months.</a:t>
          </a:r>
          <a:endParaRPr lang="en-GB" sz="1800" dirty="0"/>
        </a:p>
      </dgm:t>
    </dgm:pt>
    <dgm:pt modelId="{66CA47FC-1716-4B15-B134-99D148A450CF}" type="parTrans" cxnId="{638AD06E-FEF6-4136-9E82-FA986CBFDCC3}">
      <dgm:prSet/>
      <dgm:spPr/>
      <dgm:t>
        <a:bodyPr/>
        <a:lstStyle/>
        <a:p>
          <a:endParaRPr lang="en-GB"/>
        </a:p>
      </dgm:t>
    </dgm:pt>
    <dgm:pt modelId="{A8A249B5-8705-43FD-A3F6-0FDE3786DE39}" type="sibTrans" cxnId="{638AD06E-FEF6-4136-9E82-FA986CBFDCC3}">
      <dgm:prSet/>
      <dgm:spPr/>
      <dgm:t>
        <a:bodyPr/>
        <a:lstStyle/>
        <a:p>
          <a:endParaRPr lang="en-GB"/>
        </a:p>
      </dgm:t>
    </dgm:pt>
    <dgm:pt modelId="{32B485AC-16D0-40EF-B00D-1863CFE21655}">
      <dgm:prSet custT="1"/>
      <dgm:spPr>
        <a:ln>
          <a:solidFill>
            <a:schemeClr val="accent2">
              <a:lumMod val="20000"/>
              <a:lumOff val="80000"/>
            </a:schemeClr>
          </a:solidFill>
        </a:ln>
      </dgm:spPr>
      <dgm:t>
        <a:bodyPr/>
        <a:lstStyle/>
        <a:p>
          <a:r>
            <a:rPr lang="en-US" sz="1800" b="1" dirty="0"/>
            <a:t>2. How do daily behaviors impact Academic Risk mid-semester?</a:t>
          </a:r>
          <a:endParaRPr lang="en-US" sz="1800" dirty="0"/>
        </a:p>
        <a:p>
          <a:r>
            <a:rPr lang="en-US" sz="1800" dirty="0"/>
            <a:t>Exceptionally strongly. Our models confirmed that while historical GPA is a strong baseline, behavioral metrics like </a:t>
          </a:r>
          <a:r>
            <a:rPr lang="en-US" sz="1800" dirty="0">
              <a:highlight>
                <a:srgbClr val="FFFF00"/>
              </a:highlight>
            </a:rPr>
            <a:t>high absences and low hours_studied </a:t>
          </a:r>
          <a:r>
            <a:rPr lang="en-US" sz="1800" dirty="0"/>
            <a:t>act as massive multipliers for </a:t>
          </a:r>
          <a:r>
            <a:rPr lang="en-US" sz="1800" dirty="0">
              <a:highlight>
                <a:srgbClr val="FFFF00"/>
              </a:highlight>
            </a:rPr>
            <a:t>academic risk</a:t>
          </a:r>
          <a:r>
            <a:rPr lang="en-US" sz="1800" dirty="0"/>
            <a:t>.</a:t>
          </a:r>
          <a:endParaRPr lang="en-GB" sz="1800" dirty="0"/>
        </a:p>
      </dgm:t>
    </dgm:pt>
    <dgm:pt modelId="{7E00C49D-D365-403F-8FD6-02961AF59A98}" type="parTrans" cxnId="{C90AF204-3649-42C4-8320-3C56C661E451}">
      <dgm:prSet/>
      <dgm:spPr/>
      <dgm:t>
        <a:bodyPr/>
        <a:lstStyle/>
        <a:p>
          <a:endParaRPr lang="en-GB"/>
        </a:p>
      </dgm:t>
    </dgm:pt>
    <dgm:pt modelId="{217882E0-EEEF-4208-93A0-F2A104E26D1A}" type="sibTrans" cxnId="{C90AF204-3649-42C4-8320-3C56C661E451}">
      <dgm:prSet/>
      <dgm:spPr/>
      <dgm:t>
        <a:bodyPr/>
        <a:lstStyle/>
        <a:p>
          <a:endParaRPr lang="en-GB"/>
        </a:p>
      </dgm:t>
    </dgm:pt>
    <dgm:pt modelId="{D05C369C-8827-4BB2-A66C-DFCD2533E5F3}" type="pres">
      <dgm:prSet presAssocID="{71F7ED59-40BE-4A77-9B1C-AC4B31F12EC3}" presName="linear" presStyleCnt="0">
        <dgm:presLayoutVars>
          <dgm:animLvl val="lvl"/>
          <dgm:resizeHandles val="exact"/>
        </dgm:presLayoutVars>
      </dgm:prSet>
      <dgm:spPr/>
    </dgm:pt>
    <dgm:pt modelId="{95E83C22-8BA7-4A40-8D15-A38EB0302EC3}" type="pres">
      <dgm:prSet presAssocID="{31A50688-9077-4DF5-9C5B-1F70260F7453}" presName="parentText" presStyleLbl="node1" presStyleIdx="0" presStyleCnt="2" custScaleY="99926" custLinFactY="-18808" custLinFactNeighborY="-100000">
        <dgm:presLayoutVars>
          <dgm:chMax val="0"/>
          <dgm:bulletEnabled val="1"/>
        </dgm:presLayoutVars>
      </dgm:prSet>
      <dgm:spPr/>
    </dgm:pt>
    <dgm:pt modelId="{629115A9-A81D-4070-AF27-FDD5F7502CCA}" type="pres">
      <dgm:prSet presAssocID="{A8A249B5-8705-43FD-A3F6-0FDE3786DE39}" presName="spacer" presStyleCnt="0"/>
      <dgm:spPr/>
    </dgm:pt>
    <dgm:pt modelId="{53EE92A4-E8B4-4B21-9762-1CDE27D6ED26}" type="pres">
      <dgm:prSet presAssocID="{32B485AC-16D0-40EF-B00D-1863CFE21655}" presName="parentText" presStyleLbl="node1" presStyleIdx="1" presStyleCnt="2" custScaleY="67809" custLinFactY="3350" custLinFactNeighborY="100000">
        <dgm:presLayoutVars>
          <dgm:chMax val="0"/>
          <dgm:bulletEnabled val="1"/>
        </dgm:presLayoutVars>
      </dgm:prSet>
      <dgm:spPr/>
    </dgm:pt>
  </dgm:ptLst>
  <dgm:cxnLst>
    <dgm:cxn modelId="{C90AF204-3649-42C4-8320-3C56C661E451}" srcId="{71F7ED59-40BE-4A77-9B1C-AC4B31F12EC3}" destId="{32B485AC-16D0-40EF-B00D-1863CFE21655}" srcOrd="1" destOrd="0" parTransId="{7E00C49D-D365-403F-8FD6-02961AF59A98}" sibTransId="{217882E0-EEEF-4208-93A0-F2A104E26D1A}"/>
    <dgm:cxn modelId="{E4692B3C-B553-4951-837A-25A871E44B2A}" type="presOf" srcId="{71F7ED59-40BE-4A77-9B1C-AC4B31F12EC3}" destId="{D05C369C-8827-4BB2-A66C-DFCD2533E5F3}" srcOrd="0" destOrd="0" presId="urn:microsoft.com/office/officeart/2005/8/layout/vList2"/>
    <dgm:cxn modelId="{638AD06E-FEF6-4136-9E82-FA986CBFDCC3}" srcId="{71F7ED59-40BE-4A77-9B1C-AC4B31F12EC3}" destId="{31A50688-9077-4DF5-9C5B-1F70260F7453}" srcOrd="0" destOrd="0" parTransId="{66CA47FC-1716-4B15-B134-99D148A450CF}" sibTransId="{A8A249B5-8705-43FD-A3F6-0FDE3786DE39}"/>
    <dgm:cxn modelId="{043638AB-1F13-4B14-8427-56C4CE3E1990}" type="presOf" srcId="{32B485AC-16D0-40EF-B00D-1863CFE21655}" destId="{53EE92A4-E8B4-4B21-9762-1CDE27D6ED26}" srcOrd="0" destOrd="0" presId="urn:microsoft.com/office/officeart/2005/8/layout/vList2"/>
    <dgm:cxn modelId="{A45950F9-3480-4A8C-8B36-E12A49CCB26A}" type="presOf" srcId="{31A50688-9077-4DF5-9C5B-1F70260F7453}" destId="{95E83C22-8BA7-4A40-8D15-A38EB0302EC3}" srcOrd="0" destOrd="0" presId="urn:microsoft.com/office/officeart/2005/8/layout/vList2"/>
    <dgm:cxn modelId="{147EDECF-9A25-4345-97B4-BCA0829C8A38}" type="presParOf" srcId="{D05C369C-8827-4BB2-A66C-DFCD2533E5F3}" destId="{95E83C22-8BA7-4A40-8D15-A38EB0302EC3}" srcOrd="0" destOrd="0" presId="urn:microsoft.com/office/officeart/2005/8/layout/vList2"/>
    <dgm:cxn modelId="{28F597C6-C5E4-4F7E-A1DB-7B291F24E631}" type="presParOf" srcId="{D05C369C-8827-4BB2-A66C-DFCD2533E5F3}" destId="{629115A9-A81D-4070-AF27-FDD5F7502CCA}" srcOrd="1" destOrd="0" presId="urn:microsoft.com/office/officeart/2005/8/layout/vList2"/>
    <dgm:cxn modelId="{97036BEE-2E10-4507-9884-173B263FD05A}" type="presParOf" srcId="{D05C369C-8827-4BB2-A66C-DFCD2533E5F3}" destId="{53EE92A4-E8B4-4B21-9762-1CDE27D6ED2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D54C2E-D9EF-441B-BD91-91316A3E8EF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2D99AD6-9B5B-47D1-B3EE-13E194350475}" type="pres">
      <dgm:prSet presAssocID="{5DD54C2E-D9EF-441B-BD91-91316A3E8EF9}" presName="linear" presStyleCnt="0">
        <dgm:presLayoutVars>
          <dgm:animLvl val="lvl"/>
          <dgm:resizeHandles val="exact"/>
        </dgm:presLayoutVars>
      </dgm:prSet>
      <dgm:spPr/>
    </dgm:pt>
  </dgm:ptLst>
  <dgm:cxnLst>
    <dgm:cxn modelId="{C1EBDF3A-BB8C-4007-90EC-5212FB540B08}" type="presOf" srcId="{5DD54C2E-D9EF-441B-BD91-91316A3E8EF9}" destId="{F2D99AD6-9B5B-47D1-B3EE-13E194350475}" srcOrd="0" destOrd="0" presId="urn:microsoft.com/office/officeart/2005/8/layout/vList2"/>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4CEE95-D766-495A-8AEE-FD6C3D1CDA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830339A-F3C0-4F1F-BE26-E4C1F57BCE6A}">
      <dgm:prSet custT="1"/>
      <dgm:spPr>
        <a:solidFill>
          <a:schemeClr val="accent2">
            <a:lumMod val="60000"/>
            <a:lumOff val="40000"/>
          </a:schemeClr>
        </a:solidFill>
      </dgm:spPr>
      <dgm:t>
        <a:bodyPr/>
        <a:lstStyle/>
        <a:p>
          <a:r>
            <a:rPr lang="en-US" sz="1800" b="1" dirty="0">
              <a:solidFill>
                <a:schemeClr val="tx1"/>
              </a:solidFill>
            </a:rPr>
            <a:t>3. Can we accurately predict a student's employability level?</a:t>
          </a:r>
          <a:endParaRPr lang="en-US" sz="1800" b="0" dirty="0">
            <a:solidFill>
              <a:schemeClr val="tx1"/>
            </a:solidFill>
          </a:endParaRPr>
        </a:p>
        <a:p>
          <a:r>
            <a:rPr lang="en-US" sz="1800" b="0" dirty="0">
              <a:solidFill>
                <a:schemeClr val="tx1"/>
              </a:solidFill>
            </a:rPr>
            <a:t>Yes. Our modeling proves that employability is highly predictable. Furthermore, our analysis revealed that while a </a:t>
          </a:r>
          <a:r>
            <a:rPr lang="en-US" sz="1800" b="0" dirty="0">
              <a:solidFill>
                <a:schemeClr val="tx1"/>
              </a:solidFill>
              <a:highlight>
                <a:srgbClr val="FFFF00"/>
              </a:highlight>
            </a:rPr>
            <a:t>high GPA is important, tech_score_avg (Technical Skills) </a:t>
          </a:r>
          <a:r>
            <a:rPr lang="en-US" sz="1800" b="0" dirty="0">
              <a:solidFill>
                <a:schemeClr val="tx1"/>
              </a:solidFill>
            </a:rPr>
            <a:t>is actually the number one driver for achieving a "High Readiness" employability classification. By combining this with our Resume NLP model, we can accurately assess both the student's skill levels and their market fit.</a:t>
          </a:r>
        </a:p>
      </dgm:t>
    </dgm:pt>
    <dgm:pt modelId="{AA8537A1-7F51-4255-88CA-7F90AC248320}" type="parTrans" cxnId="{C6AACDF8-9D52-468E-94C0-10AD1E23F13D}">
      <dgm:prSet/>
      <dgm:spPr/>
      <dgm:t>
        <a:bodyPr/>
        <a:lstStyle/>
        <a:p>
          <a:endParaRPr lang="en-GB"/>
        </a:p>
      </dgm:t>
    </dgm:pt>
    <dgm:pt modelId="{36302B0E-AA87-4F51-913C-4366758A98A1}" type="sibTrans" cxnId="{C6AACDF8-9D52-468E-94C0-10AD1E23F13D}">
      <dgm:prSet/>
      <dgm:spPr/>
      <dgm:t>
        <a:bodyPr/>
        <a:lstStyle/>
        <a:p>
          <a:endParaRPr lang="en-GB"/>
        </a:p>
      </dgm:t>
    </dgm:pt>
    <dgm:pt modelId="{AA3D2BE1-DABD-4E62-B362-056C96D349A7}" type="pres">
      <dgm:prSet presAssocID="{904CEE95-D766-495A-8AEE-FD6C3D1CDAAD}" presName="linear" presStyleCnt="0">
        <dgm:presLayoutVars>
          <dgm:animLvl val="lvl"/>
          <dgm:resizeHandles val="exact"/>
        </dgm:presLayoutVars>
      </dgm:prSet>
      <dgm:spPr/>
    </dgm:pt>
    <dgm:pt modelId="{9DE1E778-E590-4158-B849-880CB2262EDB}" type="pres">
      <dgm:prSet presAssocID="{2830339A-F3C0-4F1F-BE26-E4C1F57BCE6A}" presName="parentText" presStyleLbl="node1" presStyleIdx="0" presStyleCnt="1">
        <dgm:presLayoutVars>
          <dgm:chMax val="0"/>
          <dgm:bulletEnabled val="1"/>
        </dgm:presLayoutVars>
      </dgm:prSet>
      <dgm:spPr/>
    </dgm:pt>
  </dgm:ptLst>
  <dgm:cxnLst>
    <dgm:cxn modelId="{493D402A-35D7-4CDF-83E5-A8F1FFDEC508}" type="presOf" srcId="{2830339A-F3C0-4F1F-BE26-E4C1F57BCE6A}" destId="{9DE1E778-E590-4158-B849-880CB2262EDB}" srcOrd="0" destOrd="0" presId="urn:microsoft.com/office/officeart/2005/8/layout/vList2"/>
    <dgm:cxn modelId="{AE1775A9-E6BE-4DDA-8051-3F90C7B00A55}" type="presOf" srcId="{904CEE95-D766-495A-8AEE-FD6C3D1CDAAD}" destId="{AA3D2BE1-DABD-4E62-B362-056C96D349A7}" srcOrd="0" destOrd="0" presId="urn:microsoft.com/office/officeart/2005/8/layout/vList2"/>
    <dgm:cxn modelId="{C6AACDF8-9D52-468E-94C0-10AD1E23F13D}" srcId="{904CEE95-D766-495A-8AEE-FD6C3D1CDAAD}" destId="{2830339A-F3C0-4F1F-BE26-E4C1F57BCE6A}" srcOrd="0" destOrd="0" parTransId="{AA8537A1-7F51-4255-88CA-7F90AC248320}" sibTransId="{36302B0E-AA87-4F51-913C-4366758A98A1}"/>
    <dgm:cxn modelId="{38E9755D-E325-42F5-B143-E73A4DCDA556}" type="presParOf" srcId="{AA3D2BE1-DABD-4E62-B362-056C96D349A7}" destId="{9DE1E778-E590-4158-B849-880CB2262EDB}"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7D06CD-5DE1-4609-BBD0-1D3EFA3CB758}"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GB"/>
        </a:p>
      </dgm:t>
    </dgm:pt>
    <dgm:pt modelId="{C8F91E0F-C91E-4FD6-8ED2-8CF46F45DE8A}">
      <dgm:prSet custT="1"/>
      <dgm:spPr>
        <a:solidFill>
          <a:schemeClr val="accent2">
            <a:lumMod val="60000"/>
            <a:lumOff val="40000"/>
          </a:schemeClr>
        </a:solidFill>
        <a:ln>
          <a:solidFill>
            <a:schemeClr val="accent2">
              <a:lumMod val="20000"/>
              <a:lumOff val="80000"/>
            </a:schemeClr>
          </a:solidFill>
        </a:ln>
      </dgm:spPr>
      <dgm:t>
        <a:bodyPr/>
        <a:lstStyle/>
        <a:p>
          <a:r>
            <a:rPr lang="en-US" sz="1800" b="1" dirty="0"/>
            <a:t>1. Build a classification model to predict student academic outcomes</a:t>
          </a:r>
        </a:p>
        <a:p>
          <a:r>
            <a:rPr lang="en-US" sz="1800" dirty="0"/>
            <a:t>Successfully trained our datasets to accurately distinguish between Dropouts and Graduates, proving that early academic momentum and financial stability are the ultimate anchors for university retention.</a:t>
          </a:r>
          <a:endParaRPr lang="en-GB" sz="1800" dirty="0"/>
        </a:p>
      </dgm:t>
    </dgm:pt>
    <dgm:pt modelId="{828B4E2E-A85B-47A5-88D3-130B67C063A4}" type="parTrans" cxnId="{F4C43339-5E50-44A7-A441-9C4294BB7166}">
      <dgm:prSet/>
      <dgm:spPr/>
      <dgm:t>
        <a:bodyPr/>
        <a:lstStyle/>
        <a:p>
          <a:endParaRPr lang="en-GB" sz="1800"/>
        </a:p>
      </dgm:t>
    </dgm:pt>
    <dgm:pt modelId="{410B7BF6-5282-49FB-A4A8-829CE7567665}" type="sibTrans" cxnId="{F4C43339-5E50-44A7-A441-9C4294BB7166}">
      <dgm:prSet/>
      <dgm:spPr/>
      <dgm:t>
        <a:bodyPr/>
        <a:lstStyle/>
        <a:p>
          <a:endParaRPr lang="en-GB" sz="1800"/>
        </a:p>
      </dgm:t>
    </dgm:pt>
    <dgm:pt modelId="{CF6B093C-DEF3-432F-9FCF-B4BC2CC7D760}">
      <dgm:prSet custT="1"/>
      <dgm:spPr>
        <a:ln>
          <a:solidFill>
            <a:schemeClr val="accent2">
              <a:lumMod val="20000"/>
              <a:lumOff val="80000"/>
            </a:schemeClr>
          </a:solidFill>
        </a:ln>
      </dgm:spPr>
      <dgm:t>
        <a:bodyPr/>
        <a:lstStyle/>
        <a:p>
          <a:r>
            <a:rPr lang="en-US" sz="1800" b="1" dirty="0"/>
            <a:t>2. Develop an employability assessment</a:t>
          </a:r>
        </a:p>
        <a:p>
          <a:r>
            <a:rPr lang="en-US" sz="1800" dirty="0"/>
            <a:t>Using our datasets, our classifiers accurately categorize students into professional readiness levels (Low, Medium and High). We proved that technical and soft skills heavily outweigh baseline GPA when determining job market readiness.  </a:t>
          </a:r>
          <a:endParaRPr lang="en-GB" sz="1800" dirty="0"/>
        </a:p>
      </dgm:t>
    </dgm:pt>
    <dgm:pt modelId="{C5BAC2C1-4309-44EB-8F8B-D001D2FC07D7}" type="parTrans" cxnId="{B63804C2-B5F4-4122-BA6F-541E60560068}">
      <dgm:prSet/>
      <dgm:spPr/>
      <dgm:t>
        <a:bodyPr/>
        <a:lstStyle/>
        <a:p>
          <a:endParaRPr lang="en-GB" sz="1800"/>
        </a:p>
      </dgm:t>
    </dgm:pt>
    <dgm:pt modelId="{49D73D9D-625C-4BB0-A9AF-0295132183A4}" type="sibTrans" cxnId="{B63804C2-B5F4-4122-BA6F-541E60560068}">
      <dgm:prSet/>
      <dgm:spPr/>
      <dgm:t>
        <a:bodyPr/>
        <a:lstStyle/>
        <a:p>
          <a:endParaRPr lang="en-GB" sz="1800"/>
        </a:p>
      </dgm:t>
    </dgm:pt>
    <dgm:pt modelId="{85D47CE0-476A-4F34-B4E8-53D4CE48B888}" type="pres">
      <dgm:prSet presAssocID="{9E7D06CD-5DE1-4609-BBD0-1D3EFA3CB758}" presName="linear" presStyleCnt="0">
        <dgm:presLayoutVars>
          <dgm:animLvl val="lvl"/>
          <dgm:resizeHandles val="exact"/>
        </dgm:presLayoutVars>
      </dgm:prSet>
      <dgm:spPr/>
    </dgm:pt>
    <dgm:pt modelId="{D29AEBB0-ED32-44E0-9570-0E1C58713EB2}" type="pres">
      <dgm:prSet presAssocID="{C8F91E0F-C91E-4FD6-8ED2-8CF46F45DE8A}" presName="parentText" presStyleLbl="node1" presStyleIdx="0" presStyleCnt="2">
        <dgm:presLayoutVars>
          <dgm:chMax val="0"/>
          <dgm:bulletEnabled val="1"/>
        </dgm:presLayoutVars>
      </dgm:prSet>
      <dgm:spPr/>
    </dgm:pt>
    <dgm:pt modelId="{A55FA4FA-B594-42F6-B277-F5FF424CE76C}" type="pres">
      <dgm:prSet presAssocID="{410B7BF6-5282-49FB-A4A8-829CE7567665}" presName="spacer" presStyleCnt="0"/>
      <dgm:spPr/>
    </dgm:pt>
    <dgm:pt modelId="{8318B7DF-A48E-4DE6-A430-D7954AFD2412}" type="pres">
      <dgm:prSet presAssocID="{CF6B093C-DEF3-432F-9FCF-B4BC2CC7D760}" presName="parentText" presStyleLbl="node1" presStyleIdx="1" presStyleCnt="2">
        <dgm:presLayoutVars>
          <dgm:chMax val="0"/>
          <dgm:bulletEnabled val="1"/>
        </dgm:presLayoutVars>
      </dgm:prSet>
      <dgm:spPr/>
    </dgm:pt>
  </dgm:ptLst>
  <dgm:cxnLst>
    <dgm:cxn modelId="{FCA21F35-1A69-4D18-9A6F-FCBB4E1FD5CE}" type="presOf" srcId="{9E7D06CD-5DE1-4609-BBD0-1D3EFA3CB758}" destId="{85D47CE0-476A-4F34-B4E8-53D4CE48B888}" srcOrd="0" destOrd="0" presId="urn:microsoft.com/office/officeart/2005/8/layout/vList2"/>
    <dgm:cxn modelId="{F4C43339-5E50-44A7-A441-9C4294BB7166}" srcId="{9E7D06CD-5DE1-4609-BBD0-1D3EFA3CB758}" destId="{C8F91E0F-C91E-4FD6-8ED2-8CF46F45DE8A}" srcOrd="0" destOrd="0" parTransId="{828B4E2E-A85B-47A5-88D3-130B67C063A4}" sibTransId="{410B7BF6-5282-49FB-A4A8-829CE7567665}"/>
    <dgm:cxn modelId="{0C7B8B8A-8509-49C2-B4A8-D9C2ABB4A408}" type="presOf" srcId="{CF6B093C-DEF3-432F-9FCF-B4BC2CC7D760}" destId="{8318B7DF-A48E-4DE6-A430-D7954AFD2412}" srcOrd="0" destOrd="0" presId="urn:microsoft.com/office/officeart/2005/8/layout/vList2"/>
    <dgm:cxn modelId="{46D10D93-B25D-4E06-A9A3-B68BC3477D1B}" type="presOf" srcId="{C8F91E0F-C91E-4FD6-8ED2-8CF46F45DE8A}" destId="{D29AEBB0-ED32-44E0-9570-0E1C58713EB2}" srcOrd="0" destOrd="0" presId="urn:microsoft.com/office/officeart/2005/8/layout/vList2"/>
    <dgm:cxn modelId="{B63804C2-B5F4-4122-BA6F-541E60560068}" srcId="{9E7D06CD-5DE1-4609-BBD0-1D3EFA3CB758}" destId="{CF6B093C-DEF3-432F-9FCF-B4BC2CC7D760}" srcOrd="1" destOrd="0" parTransId="{C5BAC2C1-4309-44EB-8F8B-D001D2FC07D7}" sibTransId="{49D73D9D-625C-4BB0-A9AF-0295132183A4}"/>
    <dgm:cxn modelId="{24398C77-FF04-41BF-8491-48FCEEC9247D}" type="presParOf" srcId="{85D47CE0-476A-4F34-B4E8-53D4CE48B888}" destId="{D29AEBB0-ED32-44E0-9570-0E1C58713EB2}" srcOrd="0" destOrd="0" presId="urn:microsoft.com/office/officeart/2005/8/layout/vList2"/>
    <dgm:cxn modelId="{EE21A399-1F4C-4802-B086-7655042D12B0}" type="presParOf" srcId="{85D47CE0-476A-4F34-B4E8-53D4CE48B888}" destId="{A55FA4FA-B594-42F6-B277-F5FF424CE76C}" srcOrd="1" destOrd="0" presId="urn:microsoft.com/office/officeart/2005/8/layout/vList2"/>
    <dgm:cxn modelId="{7CE23A11-598E-45B6-8FB4-36B1FB6D7F09}" type="presParOf" srcId="{85D47CE0-476A-4F34-B4E8-53D4CE48B888}" destId="{8318B7DF-A48E-4DE6-A430-D7954AFD241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FBA339B-9FC7-4307-B2AC-1AEFF8BD7C6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0E92A00-B107-42DF-9C9E-987B0CA53ED7}">
      <dgm:prSet custT="1"/>
      <dgm:spPr>
        <a:solidFill>
          <a:schemeClr val="accent2">
            <a:lumMod val="60000"/>
            <a:lumOff val="40000"/>
          </a:schemeClr>
        </a:solidFill>
        <a:ln>
          <a:solidFill>
            <a:schemeClr val="accent2">
              <a:lumMod val="20000"/>
              <a:lumOff val="80000"/>
            </a:schemeClr>
          </a:solidFill>
        </a:ln>
      </dgm:spPr>
      <dgm:t>
        <a:bodyPr/>
        <a:lstStyle/>
        <a:p>
          <a:r>
            <a:rPr lang="en-US" sz="1800" b="1" dirty="0">
              <a:solidFill>
                <a:schemeClr val="tx1"/>
              </a:solidFill>
            </a:rPr>
            <a:t>3. Identify the key demographic and academic features that drive student risk</a:t>
          </a:r>
        </a:p>
        <a:p>
          <a:r>
            <a:rPr lang="en-US" sz="1800" dirty="0">
              <a:solidFill>
                <a:schemeClr val="tx1"/>
              </a:solidFill>
            </a:rPr>
            <a:t>We identified that demographic features (Age at Enrollment, Debtor Status) and academic features (1st Semester Units Approved, GPA, Hours Studied) are the absolute highest, quantifiable drivers of student risk.</a:t>
          </a:r>
          <a:endParaRPr lang="en-GB" sz="1800" dirty="0">
            <a:solidFill>
              <a:schemeClr val="tx1"/>
            </a:solidFill>
          </a:endParaRPr>
        </a:p>
      </dgm:t>
    </dgm:pt>
    <dgm:pt modelId="{6E8694BE-9718-4A4C-B341-8B5517BCBE90}" type="parTrans" cxnId="{9C6B4EBD-8A26-4215-8739-AA7B274390E8}">
      <dgm:prSet/>
      <dgm:spPr/>
      <dgm:t>
        <a:bodyPr/>
        <a:lstStyle/>
        <a:p>
          <a:endParaRPr lang="en-GB"/>
        </a:p>
      </dgm:t>
    </dgm:pt>
    <dgm:pt modelId="{7AEDB7CF-043B-4EF0-AA33-58E4BDF2E369}" type="sibTrans" cxnId="{9C6B4EBD-8A26-4215-8739-AA7B274390E8}">
      <dgm:prSet/>
      <dgm:spPr/>
      <dgm:t>
        <a:bodyPr/>
        <a:lstStyle/>
        <a:p>
          <a:endParaRPr lang="en-GB"/>
        </a:p>
      </dgm:t>
    </dgm:pt>
    <dgm:pt modelId="{8132C431-4072-4B53-A606-BE64ECBC34D7}">
      <dgm:prSet custT="1"/>
      <dgm:spPr>
        <a:noFill/>
        <a:ln>
          <a:solidFill>
            <a:schemeClr val="accent2">
              <a:lumMod val="20000"/>
              <a:lumOff val="80000"/>
            </a:schemeClr>
          </a:solidFill>
        </a:ln>
      </dgm:spPr>
      <dgm:t>
        <a:bodyPr/>
        <a:lstStyle/>
        <a:p>
          <a:r>
            <a:rPr lang="en-US" sz="1800" b="1" dirty="0">
              <a:solidFill>
                <a:schemeClr val="tx1"/>
              </a:solidFill>
            </a:rPr>
            <a:t>4. Created a user-friendly interface for real-time prediction and decision-making</a:t>
          </a:r>
        </a:p>
        <a:p>
          <a:r>
            <a:rPr lang="en-US" sz="1800" dirty="0">
              <a:solidFill>
                <a:schemeClr val="tx1"/>
              </a:solidFill>
            </a:rPr>
            <a:t>We created an interface that allows academic advisors and career counselors to run live, real-time inferences on new students.</a:t>
          </a:r>
          <a:endParaRPr lang="en-GB" sz="1800" dirty="0">
            <a:solidFill>
              <a:schemeClr val="tx1"/>
            </a:solidFill>
          </a:endParaRPr>
        </a:p>
      </dgm:t>
    </dgm:pt>
    <dgm:pt modelId="{45DB52D7-5687-422D-AE96-DD0CFFCE2F77}" type="parTrans" cxnId="{4F76523A-35FF-4054-8296-2A33E9D3F79F}">
      <dgm:prSet/>
      <dgm:spPr/>
      <dgm:t>
        <a:bodyPr/>
        <a:lstStyle/>
        <a:p>
          <a:endParaRPr lang="en-GB"/>
        </a:p>
      </dgm:t>
    </dgm:pt>
    <dgm:pt modelId="{5D80EE84-708B-4F34-BF5B-1D2D2E4AF750}" type="sibTrans" cxnId="{4F76523A-35FF-4054-8296-2A33E9D3F79F}">
      <dgm:prSet/>
      <dgm:spPr/>
      <dgm:t>
        <a:bodyPr/>
        <a:lstStyle/>
        <a:p>
          <a:endParaRPr lang="en-GB"/>
        </a:p>
      </dgm:t>
    </dgm:pt>
    <dgm:pt modelId="{7093A6B8-A0DF-4CBC-935B-D4D31488DE8B}" type="pres">
      <dgm:prSet presAssocID="{BFBA339B-9FC7-4307-B2AC-1AEFF8BD7C6C}" presName="linear" presStyleCnt="0">
        <dgm:presLayoutVars>
          <dgm:animLvl val="lvl"/>
          <dgm:resizeHandles val="exact"/>
        </dgm:presLayoutVars>
      </dgm:prSet>
      <dgm:spPr/>
    </dgm:pt>
    <dgm:pt modelId="{4E830FFC-2A8D-4A15-AC54-2490444D61F9}" type="pres">
      <dgm:prSet presAssocID="{80E92A00-B107-42DF-9C9E-987B0CA53ED7}" presName="parentText" presStyleLbl="node1" presStyleIdx="0" presStyleCnt="2">
        <dgm:presLayoutVars>
          <dgm:chMax val="0"/>
          <dgm:bulletEnabled val="1"/>
        </dgm:presLayoutVars>
      </dgm:prSet>
      <dgm:spPr/>
    </dgm:pt>
    <dgm:pt modelId="{71D71E46-E72D-48BB-A0B2-969FD34337AF}" type="pres">
      <dgm:prSet presAssocID="{7AEDB7CF-043B-4EF0-AA33-58E4BDF2E369}" presName="spacer" presStyleCnt="0"/>
      <dgm:spPr/>
    </dgm:pt>
    <dgm:pt modelId="{C4703EBD-B00F-4D90-A6D4-C7704556733F}" type="pres">
      <dgm:prSet presAssocID="{8132C431-4072-4B53-A606-BE64ECBC34D7}" presName="parentText" presStyleLbl="node1" presStyleIdx="1" presStyleCnt="2">
        <dgm:presLayoutVars>
          <dgm:chMax val="0"/>
          <dgm:bulletEnabled val="1"/>
        </dgm:presLayoutVars>
      </dgm:prSet>
      <dgm:spPr/>
    </dgm:pt>
  </dgm:ptLst>
  <dgm:cxnLst>
    <dgm:cxn modelId="{4F76523A-35FF-4054-8296-2A33E9D3F79F}" srcId="{BFBA339B-9FC7-4307-B2AC-1AEFF8BD7C6C}" destId="{8132C431-4072-4B53-A606-BE64ECBC34D7}" srcOrd="1" destOrd="0" parTransId="{45DB52D7-5687-422D-AE96-DD0CFFCE2F77}" sibTransId="{5D80EE84-708B-4F34-BF5B-1D2D2E4AF750}"/>
    <dgm:cxn modelId="{A5EBA186-AFC0-46E4-9F3E-3A5F4F6AD2CB}" type="presOf" srcId="{BFBA339B-9FC7-4307-B2AC-1AEFF8BD7C6C}" destId="{7093A6B8-A0DF-4CBC-935B-D4D31488DE8B}" srcOrd="0" destOrd="0" presId="urn:microsoft.com/office/officeart/2005/8/layout/vList2"/>
    <dgm:cxn modelId="{9C6B4EBD-8A26-4215-8739-AA7B274390E8}" srcId="{BFBA339B-9FC7-4307-B2AC-1AEFF8BD7C6C}" destId="{80E92A00-B107-42DF-9C9E-987B0CA53ED7}" srcOrd="0" destOrd="0" parTransId="{6E8694BE-9718-4A4C-B341-8B5517BCBE90}" sibTransId="{7AEDB7CF-043B-4EF0-AA33-58E4BDF2E369}"/>
    <dgm:cxn modelId="{2899C6D0-E331-46BC-851F-9AD19165B881}" type="presOf" srcId="{80E92A00-B107-42DF-9C9E-987B0CA53ED7}" destId="{4E830FFC-2A8D-4A15-AC54-2490444D61F9}" srcOrd="0" destOrd="0" presId="urn:microsoft.com/office/officeart/2005/8/layout/vList2"/>
    <dgm:cxn modelId="{813BFDD2-5E64-4C2A-99F9-61AE365C8C73}" type="presOf" srcId="{8132C431-4072-4B53-A606-BE64ECBC34D7}" destId="{C4703EBD-B00F-4D90-A6D4-C7704556733F}" srcOrd="0" destOrd="0" presId="urn:microsoft.com/office/officeart/2005/8/layout/vList2"/>
    <dgm:cxn modelId="{F023D554-F632-449A-A360-9D41F05A6BB7}" type="presParOf" srcId="{7093A6B8-A0DF-4CBC-935B-D4D31488DE8B}" destId="{4E830FFC-2A8D-4A15-AC54-2490444D61F9}" srcOrd="0" destOrd="0" presId="urn:microsoft.com/office/officeart/2005/8/layout/vList2"/>
    <dgm:cxn modelId="{D4B58089-42BA-4FC8-91EE-900ACC67DD29}" type="presParOf" srcId="{7093A6B8-A0DF-4CBC-935B-D4D31488DE8B}" destId="{71D71E46-E72D-48BB-A0B2-969FD34337AF}" srcOrd="1" destOrd="0" presId="urn:microsoft.com/office/officeart/2005/8/layout/vList2"/>
    <dgm:cxn modelId="{B848933A-AF57-4FFB-A581-D5E43178346E}" type="presParOf" srcId="{7093A6B8-A0DF-4CBC-935B-D4D31488DE8B}" destId="{C4703EBD-B00F-4D90-A6D4-C7704556733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AB71EF-BDEB-4F75-B87A-160EEE8FA9A7}"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GB"/>
        </a:p>
      </dgm:t>
    </dgm:pt>
    <dgm:pt modelId="{496F5295-227F-4B80-AA30-CA95AA8D7580}">
      <dgm:prSet/>
      <dgm:spPr>
        <a:solidFill>
          <a:schemeClr val="accent2">
            <a:lumMod val="60000"/>
            <a:lumOff val="40000"/>
          </a:schemeClr>
        </a:solidFill>
        <a:ln>
          <a:solidFill>
            <a:schemeClr val="accent2">
              <a:lumMod val="20000"/>
              <a:lumOff val="80000"/>
            </a:schemeClr>
          </a:solidFill>
        </a:ln>
      </dgm:spPr>
      <dgm:t>
        <a:bodyPr/>
        <a:lstStyle/>
        <a:p>
          <a:r>
            <a:rPr lang="en-US" b="1" dirty="0"/>
            <a:t>1.Early Warning System:</a:t>
          </a:r>
          <a:endParaRPr lang="en-US" dirty="0"/>
        </a:p>
        <a:p>
          <a:r>
            <a:rPr lang="en-US" dirty="0"/>
            <a:t>Integrate the Dropout and Academic Risk models into the university portal. If a student triggers the financial risk model early, or the behavioral risk model mid-semester, advisors should automatically be notified to intervene.</a:t>
          </a:r>
          <a:endParaRPr lang="en-GB" dirty="0"/>
        </a:p>
      </dgm:t>
    </dgm:pt>
    <dgm:pt modelId="{B8D6325F-5B71-4E7F-A971-8B5AE6F8485C}" type="parTrans" cxnId="{4C508439-4CAA-4CC3-8D64-B4FE15DB7D4C}">
      <dgm:prSet/>
      <dgm:spPr/>
      <dgm:t>
        <a:bodyPr/>
        <a:lstStyle/>
        <a:p>
          <a:endParaRPr lang="en-GB"/>
        </a:p>
      </dgm:t>
    </dgm:pt>
    <dgm:pt modelId="{98DB36DC-4EE8-4C55-AFDD-DEBBFE367F20}" type="sibTrans" cxnId="{4C508439-4CAA-4CC3-8D64-B4FE15DB7D4C}">
      <dgm:prSet/>
      <dgm:spPr/>
      <dgm:t>
        <a:bodyPr/>
        <a:lstStyle/>
        <a:p>
          <a:endParaRPr lang="en-GB"/>
        </a:p>
      </dgm:t>
    </dgm:pt>
    <dgm:pt modelId="{D43C0CD8-3536-45C5-AE80-70A6B565AB58}">
      <dgm:prSet/>
      <dgm:spPr>
        <a:ln>
          <a:solidFill>
            <a:schemeClr val="accent2">
              <a:lumMod val="20000"/>
              <a:lumOff val="80000"/>
            </a:schemeClr>
          </a:solidFill>
        </a:ln>
      </dgm:spPr>
      <dgm:t>
        <a:bodyPr/>
        <a:lstStyle/>
        <a:p>
          <a:r>
            <a:rPr lang="en-US" b="1" dirty="0"/>
            <a:t>2.Curriculum Updates</a:t>
          </a:r>
          <a:r>
            <a:rPr lang="en-US" dirty="0"/>
            <a:t>: </a:t>
          </a:r>
        </a:p>
        <a:p>
          <a:r>
            <a:rPr lang="en-US" dirty="0"/>
            <a:t>Since technical skills heavily outweigh general GPA for job readiness, career services should push heavily for mandatory technical workshops before the senior year.</a:t>
          </a:r>
          <a:endParaRPr lang="en-GB" dirty="0"/>
        </a:p>
      </dgm:t>
    </dgm:pt>
    <dgm:pt modelId="{952B1BED-C91B-400C-A590-DE04B790B54B}" type="parTrans" cxnId="{4A6D44C5-4062-4B07-B255-3933AA8BBDCD}">
      <dgm:prSet/>
      <dgm:spPr/>
      <dgm:t>
        <a:bodyPr/>
        <a:lstStyle/>
        <a:p>
          <a:endParaRPr lang="en-GB"/>
        </a:p>
      </dgm:t>
    </dgm:pt>
    <dgm:pt modelId="{0DECFA4B-A0A8-4727-97B9-2BA78E5EF08A}" type="sibTrans" cxnId="{4A6D44C5-4062-4B07-B255-3933AA8BBDCD}">
      <dgm:prSet/>
      <dgm:spPr/>
      <dgm:t>
        <a:bodyPr/>
        <a:lstStyle/>
        <a:p>
          <a:endParaRPr lang="en-GB"/>
        </a:p>
      </dgm:t>
    </dgm:pt>
    <dgm:pt modelId="{E4880530-59F2-42E3-AFEF-BB89E103002B}">
      <dgm:prSet/>
      <dgm:spPr>
        <a:solidFill>
          <a:schemeClr val="accent2">
            <a:lumMod val="60000"/>
            <a:lumOff val="40000"/>
          </a:schemeClr>
        </a:solidFill>
        <a:ln>
          <a:solidFill>
            <a:schemeClr val="accent2">
              <a:lumMod val="20000"/>
              <a:lumOff val="80000"/>
            </a:schemeClr>
          </a:solidFill>
        </a:ln>
      </dgm:spPr>
      <dgm:t>
        <a:bodyPr/>
        <a:lstStyle/>
        <a:p>
          <a:r>
            <a:rPr lang="en-US" b="1" dirty="0"/>
            <a:t>3.Automated Resume Audit</a:t>
          </a:r>
          <a:endParaRPr lang="en-US" dirty="0"/>
        </a:p>
        <a:p>
          <a:r>
            <a:rPr lang="en-US" dirty="0"/>
            <a:t>Utilize the NLP model to automatically scan student resumes submitted to the career center, instantly flagging resumes that lack the keyword density required for their target job category.</a:t>
          </a:r>
          <a:endParaRPr lang="en-GB" dirty="0"/>
        </a:p>
      </dgm:t>
    </dgm:pt>
    <dgm:pt modelId="{18547B72-65DF-49DC-8E4C-BCD4F39D6F6A}" type="parTrans" cxnId="{F0300087-4A92-4B47-8B04-655C58ADBBCF}">
      <dgm:prSet/>
      <dgm:spPr/>
      <dgm:t>
        <a:bodyPr/>
        <a:lstStyle/>
        <a:p>
          <a:endParaRPr lang="en-GB"/>
        </a:p>
      </dgm:t>
    </dgm:pt>
    <dgm:pt modelId="{59EECF9C-A382-42F9-8784-D21ED89FDB8D}" type="sibTrans" cxnId="{F0300087-4A92-4B47-8B04-655C58ADBBCF}">
      <dgm:prSet/>
      <dgm:spPr/>
      <dgm:t>
        <a:bodyPr/>
        <a:lstStyle/>
        <a:p>
          <a:endParaRPr lang="en-GB"/>
        </a:p>
      </dgm:t>
    </dgm:pt>
    <dgm:pt modelId="{B24A62F7-198D-449A-9147-8AECFB8CA372}" type="pres">
      <dgm:prSet presAssocID="{D5AB71EF-BDEB-4F75-B87A-160EEE8FA9A7}" presName="linear" presStyleCnt="0">
        <dgm:presLayoutVars>
          <dgm:animLvl val="lvl"/>
          <dgm:resizeHandles val="exact"/>
        </dgm:presLayoutVars>
      </dgm:prSet>
      <dgm:spPr/>
    </dgm:pt>
    <dgm:pt modelId="{FAB7CAA6-BDDF-4E08-85C2-80A4F29B0C60}" type="pres">
      <dgm:prSet presAssocID="{496F5295-227F-4B80-AA30-CA95AA8D7580}" presName="parentText" presStyleLbl="node1" presStyleIdx="0" presStyleCnt="3">
        <dgm:presLayoutVars>
          <dgm:chMax val="0"/>
          <dgm:bulletEnabled val="1"/>
        </dgm:presLayoutVars>
      </dgm:prSet>
      <dgm:spPr/>
    </dgm:pt>
    <dgm:pt modelId="{E9C6FAF7-E756-46CB-AC81-2A8D40C9581A}" type="pres">
      <dgm:prSet presAssocID="{98DB36DC-4EE8-4C55-AFDD-DEBBFE367F20}" presName="spacer" presStyleCnt="0"/>
      <dgm:spPr/>
    </dgm:pt>
    <dgm:pt modelId="{3E59C26F-AAC5-4496-9DD6-04428104B735}" type="pres">
      <dgm:prSet presAssocID="{D43C0CD8-3536-45C5-AE80-70A6B565AB58}" presName="parentText" presStyleLbl="node1" presStyleIdx="1" presStyleCnt="3">
        <dgm:presLayoutVars>
          <dgm:chMax val="0"/>
          <dgm:bulletEnabled val="1"/>
        </dgm:presLayoutVars>
      </dgm:prSet>
      <dgm:spPr/>
    </dgm:pt>
    <dgm:pt modelId="{E88904C8-4035-4159-879C-57957AD62FC7}" type="pres">
      <dgm:prSet presAssocID="{0DECFA4B-A0A8-4727-97B9-2BA78E5EF08A}" presName="spacer" presStyleCnt="0"/>
      <dgm:spPr/>
    </dgm:pt>
    <dgm:pt modelId="{FEF8B5A5-D818-44B0-8EFF-88BD5E20E6AE}" type="pres">
      <dgm:prSet presAssocID="{E4880530-59F2-42E3-AFEF-BB89E103002B}" presName="parentText" presStyleLbl="node1" presStyleIdx="2" presStyleCnt="3">
        <dgm:presLayoutVars>
          <dgm:chMax val="0"/>
          <dgm:bulletEnabled val="1"/>
        </dgm:presLayoutVars>
      </dgm:prSet>
      <dgm:spPr/>
    </dgm:pt>
  </dgm:ptLst>
  <dgm:cxnLst>
    <dgm:cxn modelId="{4C508439-4CAA-4CC3-8D64-B4FE15DB7D4C}" srcId="{D5AB71EF-BDEB-4F75-B87A-160EEE8FA9A7}" destId="{496F5295-227F-4B80-AA30-CA95AA8D7580}" srcOrd="0" destOrd="0" parTransId="{B8D6325F-5B71-4E7F-A971-8B5AE6F8485C}" sibTransId="{98DB36DC-4EE8-4C55-AFDD-DEBBFE367F20}"/>
    <dgm:cxn modelId="{68289D39-0FE7-4AFB-BA00-49EAB0A2CA43}" type="presOf" srcId="{496F5295-227F-4B80-AA30-CA95AA8D7580}" destId="{FAB7CAA6-BDDF-4E08-85C2-80A4F29B0C60}" srcOrd="0" destOrd="0" presId="urn:microsoft.com/office/officeart/2005/8/layout/vList2"/>
    <dgm:cxn modelId="{19A27246-E4C6-4E0B-A7E1-8474EFD0F696}" type="presOf" srcId="{E4880530-59F2-42E3-AFEF-BB89E103002B}" destId="{FEF8B5A5-D818-44B0-8EFF-88BD5E20E6AE}" srcOrd="0" destOrd="0" presId="urn:microsoft.com/office/officeart/2005/8/layout/vList2"/>
    <dgm:cxn modelId="{F0300087-4A92-4B47-8B04-655C58ADBBCF}" srcId="{D5AB71EF-BDEB-4F75-B87A-160EEE8FA9A7}" destId="{E4880530-59F2-42E3-AFEF-BB89E103002B}" srcOrd="2" destOrd="0" parTransId="{18547B72-65DF-49DC-8E4C-BCD4F39D6F6A}" sibTransId="{59EECF9C-A382-42F9-8784-D21ED89FDB8D}"/>
    <dgm:cxn modelId="{9F532C87-4736-4484-9236-D3E1F2BEA698}" type="presOf" srcId="{D5AB71EF-BDEB-4F75-B87A-160EEE8FA9A7}" destId="{B24A62F7-198D-449A-9147-8AECFB8CA372}" srcOrd="0" destOrd="0" presId="urn:microsoft.com/office/officeart/2005/8/layout/vList2"/>
    <dgm:cxn modelId="{4A6D44C5-4062-4B07-B255-3933AA8BBDCD}" srcId="{D5AB71EF-BDEB-4F75-B87A-160EEE8FA9A7}" destId="{D43C0CD8-3536-45C5-AE80-70A6B565AB58}" srcOrd="1" destOrd="0" parTransId="{952B1BED-C91B-400C-A590-DE04B790B54B}" sibTransId="{0DECFA4B-A0A8-4727-97B9-2BA78E5EF08A}"/>
    <dgm:cxn modelId="{3F2D09C8-53CC-4C8C-AB91-FE83AA5C9E91}" type="presOf" srcId="{D43C0CD8-3536-45C5-AE80-70A6B565AB58}" destId="{3E59C26F-AAC5-4496-9DD6-04428104B735}" srcOrd="0" destOrd="0" presId="urn:microsoft.com/office/officeart/2005/8/layout/vList2"/>
    <dgm:cxn modelId="{F2178454-0AC2-4446-AD1B-8C02D374C695}" type="presParOf" srcId="{B24A62F7-198D-449A-9147-8AECFB8CA372}" destId="{FAB7CAA6-BDDF-4E08-85C2-80A4F29B0C60}" srcOrd="0" destOrd="0" presId="urn:microsoft.com/office/officeart/2005/8/layout/vList2"/>
    <dgm:cxn modelId="{D998ABF4-A0E0-430A-AFB1-FBE7283CB936}" type="presParOf" srcId="{B24A62F7-198D-449A-9147-8AECFB8CA372}" destId="{E9C6FAF7-E756-46CB-AC81-2A8D40C9581A}" srcOrd="1" destOrd="0" presId="urn:microsoft.com/office/officeart/2005/8/layout/vList2"/>
    <dgm:cxn modelId="{DB7DA043-CF12-458C-9EDF-032512B844CA}" type="presParOf" srcId="{B24A62F7-198D-449A-9147-8AECFB8CA372}" destId="{3E59C26F-AAC5-4496-9DD6-04428104B735}" srcOrd="2" destOrd="0" presId="urn:microsoft.com/office/officeart/2005/8/layout/vList2"/>
    <dgm:cxn modelId="{C0DDBB53-A0E1-43A6-AD92-7D4F3F9076E9}" type="presParOf" srcId="{B24A62F7-198D-449A-9147-8AECFB8CA372}" destId="{E88904C8-4035-4159-879C-57957AD62FC7}" srcOrd="3" destOrd="0" presId="urn:microsoft.com/office/officeart/2005/8/layout/vList2"/>
    <dgm:cxn modelId="{0CA6DB97-658C-4B79-A45C-45C7996FD5F4}" type="presParOf" srcId="{B24A62F7-198D-449A-9147-8AECFB8CA372}" destId="{FEF8B5A5-D818-44B0-8EFF-88BD5E20E6A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974D3F2-0674-4BC5-8C46-3F2CF85A6D26}"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GB"/>
        </a:p>
      </dgm:t>
    </dgm:pt>
    <dgm:pt modelId="{60A944B4-1D71-4E76-8A34-4C880541B441}">
      <dgm:prSet/>
      <dgm:spPr>
        <a:ln>
          <a:solidFill>
            <a:schemeClr val="accent2">
              <a:lumMod val="20000"/>
              <a:lumOff val="80000"/>
            </a:schemeClr>
          </a:solidFill>
        </a:ln>
      </dgm:spPr>
      <dgm:t>
        <a:bodyPr/>
        <a:lstStyle/>
        <a:p>
          <a:r>
            <a:rPr lang="en-US" b="1" dirty="0"/>
            <a:t>Streamlit Deployment</a:t>
          </a:r>
          <a:r>
            <a:rPr lang="en-US" dirty="0"/>
            <a:t>:</a:t>
          </a:r>
        </a:p>
        <a:p>
          <a:r>
            <a:rPr lang="en-US" dirty="0"/>
            <a:t>We deployed the best-performing models into an interactive, user-friendly.</a:t>
          </a:r>
        </a:p>
        <a:p>
          <a:r>
            <a:rPr lang="en-US" dirty="0"/>
            <a:t>Streamlit dashboard so that stakeholders can input student data and get live </a:t>
          </a:r>
        </a:p>
        <a:p>
          <a:r>
            <a:rPr lang="en-US" dirty="0"/>
            <a:t>predictions.  </a:t>
          </a:r>
          <a:endParaRPr lang="en-GB" dirty="0"/>
        </a:p>
      </dgm:t>
    </dgm:pt>
    <dgm:pt modelId="{0258EAC7-B6A9-4822-ACC8-77386219C831}" type="parTrans" cxnId="{3501A434-F1F9-4D6B-9AB0-C935866C78FA}">
      <dgm:prSet/>
      <dgm:spPr/>
      <dgm:t>
        <a:bodyPr/>
        <a:lstStyle/>
        <a:p>
          <a:endParaRPr lang="en-GB"/>
        </a:p>
      </dgm:t>
    </dgm:pt>
    <dgm:pt modelId="{9B8320C2-EA25-4CEB-BABA-4D3D8E7C2E62}" type="sibTrans" cxnId="{3501A434-F1F9-4D6B-9AB0-C935866C78FA}">
      <dgm:prSet/>
      <dgm:spPr/>
      <dgm:t>
        <a:bodyPr/>
        <a:lstStyle/>
        <a:p>
          <a:endParaRPr lang="en-GB"/>
        </a:p>
      </dgm:t>
    </dgm:pt>
    <dgm:pt modelId="{8B47E5F3-E6C2-4664-AB25-495000792BF6}">
      <dgm:prSet custT="1"/>
      <dgm:spPr>
        <a:solidFill>
          <a:schemeClr val="accent2">
            <a:lumMod val="60000"/>
            <a:lumOff val="40000"/>
          </a:schemeClr>
        </a:solidFill>
        <a:ln>
          <a:solidFill>
            <a:schemeClr val="accent2">
              <a:lumMod val="20000"/>
              <a:lumOff val="80000"/>
            </a:schemeClr>
          </a:solidFill>
        </a:ln>
      </dgm:spPr>
      <dgm:t>
        <a:bodyPr/>
        <a:lstStyle/>
        <a:p>
          <a:r>
            <a:rPr lang="en-US" sz="1800" b="1" dirty="0"/>
            <a:t>Integration into University Systems</a:t>
          </a:r>
          <a:r>
            <a:rPr lang="en-US" sz="1800" dirty="0"/>
            <a:t>:</a:t>
          </a:r>
        </a:p>
        <a:p>
          <a:r>
            <a:rPr lang="en-US" sz="1800" dirty="0"/>
            <a:t>Our ultimate goal is to remove the need for manual data entry. By building a REST API using Flask,</a:t>
          </a:r>
        </a:p>
        <a:p>
          <a:r>
            <a:rPr lang="en-US" sz="1800" dirty="0"/>
            <a:t>the university's main student database (e.g. Canvas) can automatically send daily student data </a:t>
          </a:r>
        </a:p>
        <a:p>
          <a:r>
            <a:rPr lang="en-US" sz="1800" dirty="0"/>
            <a:t>directly to our predictive models in the cloud, generating automated risk reports for the </a:t>
          </a:r>
        </a:p>
        <a:p>
          <a:r>
            <a:rPr lang="en-US" sz="1800" dirty="0"/>
            <a:t>administration in real-time.</a:t>
          </a:r>
          <a:endParaRPr lang="en-GB" sz="1800" dirty="0"/>
        </a:p>
      </dgm:t>
    </dgm:pt>
    <dgm:pt modelId="{C28194A1-8FA3-4C64-9543-E0B510D36880}" type="parTrans" cxnId="{6C26E456-C6C4-486D-8A07-B7852BCA00DD}">
      <dgm:prSet/>
      <dgm:spPr/>
      <dgm:t>
        <a:bodyPr/>
        <a:lstStyle/>
        <a:p>
          <a:endParaRPr lang="en-GB"/>
        </a:p>
      </dgm:t>
    </dgm:pt>
    <dgm:pt modelId="{BACA8465-93CC-4DC3-9F0B-61C1B59E6F0A}" type="sibTrans" cxnId="{6C26E456-C6C4-486D-8A07-B7852BCA00DD}">
      <dgm:prSet/>
      <dgm:spPr/>
      <dgm:t>
        <a:bodyPr/>
        <a:lstStyle/>
        <a:p>
          <a:endParaRPr lang="en-GB"/>
        </a:p>
      </dgm:t>
    </dgm:pt>
    <dgm:pt modelId="{ABE4ED0E-09BC-4F14-A574-D3F6D5E153F0}" type="pres">
      <dgm:prSet presAssocID="{C974D3F2-0674-4BC5-8C46-3F2CF85A6D26}" presName="linear" presStyleCnt="0">
        <dgm:presLayoutVars>
          <dgm:animLvl val="lvl"/>
          <dgm:resizeHandles val="exact"/>
        </dgm:presLayoutVars>
      </dgm:prSet>
      <dgm:spPr/>
    </dgm:pt>
    <dgm:pt modelId="{6812A41F-8C94-42D4-A80C-29208E04BBED}" type="pres">
      <dgm:prSet presAssocID="{60A944B4-1D71-4E76-8A34-4C880541B441}" presName="parentText" presStyleLbl="node1" presStyleIdx="0" presStyleCnt="2" custScaleY="75625">
        <dgm:presLayoutVars>
          <dgm:chMax val="0"/>
          <dgm:bulletEnabled val="1"/>
        </dgm:presLayoutVars>
      </dgm:prSet>
      <dgm:spPr/>
    </dgm:pt>
    <dgm:pt modelId="{D24D5AC1-6CB2-4A01-A0EA-C1C102E5BA53}" type="pres">
      <dgm:prSet presAssocID="{9B8320C2-EA25-4CEB-BABA-4D3D8E7C2E62}" presName="spacer" presStyleCnt="0"/>
      <dgm:spPr/>
    </dgm:pt>
    <dgm:pt modelId="{BE575C0C-E4CB-4D27-A26D-EC4AA036FEB1}" type="pres">
      <dgm:prSet presAssocID="{8B47E5F3-E6C2-4664-AB25-495000792BF6}" presName="parentText" presStyleLbl="node1" presStyleIdx="1" presStyleCnt="2" custScaleY="114289">
        <dgm:presLayoutVars>
          <dgm:chMax val="0"/>
          <dgm:bulletEnabled val="1"/>
        </dgm:presLayoutVars>
      </dgm:prSet>
      <dgm:spPr/>
    </dgm:pt>
  </dgm:ptLst>
  <dgm:cxnLst>
    <dgm:cxn modelId="{3501A434-F1F9-4D6B-9AB0-C935866C78FA}" srcId="{C974D3F2-0674-4BC5-8C46-3F2CF85A6D26}" destId="{60A944B4-1D71-4E76-8A34-4C880541B441}" srcOrd="0" destOrd="0" parTransId="{0258EAC7-B6A9-4822-ACC8-77386219C831}" sibTransId="{9B8320C2-EA25-4CEB-BABA-4D3D8E7C2E62}"/>
    <dgm:cxn modelId="{6C26E456-C6C4-486D-8A07-B7852BCA00DD}" srcId="{C974D3F2-0674-4BC5-8C46-3F2CF85A6D26}" destId="{8B47E5F3-E6C2-4664-AB25-495000792BF6}" srcOrd="1" destOrd="0" parTransId="{C28194A1-8FA3-4C64-9543-E0B510D36880}" sibTransId="{BACA8465-93CC-4DC3-9F0B-61C1B59E6F0A}"/>
    <dgm:cxn modelId="{8A5AB277-67ED-47BB-A4CA-5B1628A9C2C9}" type="presOf" srcId="{8B47E5F3-E6C2-4664-AB25-495000792BF6}" destId="{BE575C0C-E4CB-4D27-A26D-EC4AA036FEB1}" srcOrd="0" destOrd="0" presId="urn:microsoft.com/office/officeart/2005/8/layout/vList2"/>
    <dgm:cxn modelId="{F4E035B8-83FC-4CA5-B172-DC6DAAB66DF5}" type="presOf" srcId="{60A944B4-1D71-4E76-8A34-4C880541B441}" destId="{6812A41F-8C94-42D4-A80C-29208E04BBED}" srcOrd="0" destOrd="0" presId="urn:microsoft.com/office/officeart/2005/8/layout/vList2"/>
    <dgm:cxn modelId="{508D22CE-5413-4944-ABA7-61CCE9837A31}" type="presOf" srcId="{C974D3F2-0674-4BC5-8C46-3F2CF85A6D26}" destId="{ABE4ED0E-09BC-4F14-A574-D3F6D5E153F0}" srcOrd="0" destOrd="0" presId="urn:microsoft.com/office/officeart/2005/8/layout/vList2"/>
    <dgm:cxn modelId="{98C7866B-B3F8-4C64-A394-D65D2A98811A}" type="presParOf" srcId="{ABE4ED0E-09BC-4F14-A574-D3F6D5E153F0}" destId="{6812A41F-8C94-42D4-A80C-29208E04BBED}" srcOrd="0" destOrd="0" presId="urn:microsoft.com/office/officeart/2005/8/layout/vList2"/>
    <dgm:cxn modelId="{B0A6A1EF-BA39-4930-84A3-33468B63AC8B}" type="presParOf" srcId="{ABE4ED0E-09BC-4F14-A574-D3F6D5E153F0}" destId="{D24D5AC1-6CB2-4A01-A0EA-C1C102E5BA53}" srcOrd="1" destOrd="0" presId="urn:microsoft.com/office/officeart/2005/8/layout/vList2"/>
    <dgm:cxn modelId="{CF8255A6-CA59-4EA9-AE21-1FC9BE8141DC}" type="presParOf" srcId="{ABE4ED0E-09BC-4F14-A574-D3F6D5E153F0}" destId="{BE575C0C-E4CB-4D27-A26D-EC4AA036FEB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D75E3E-7931-4697-9D2A-F0B550835999}">
      <dsp:nvSpPr>
        <dsp:cNvPr id="0" name=""/>
        <dsp:cNvSpPr/>
      </dsp:nvSpPr>
      <dsp:spPr>
        <a:xfrm>
          <a:off x="0" y="0"/>
          <a:ext cx="7612558" cy="288431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“If a predictive algorithm scores a student’s academic performance and employability based on historical data, does the system act as an objective diagnostic tool, or does it become a self-fulfilling prophecy that restricts a student's actual potential and career trajectory?”</a:t>
          </a:r>
          <a:endParaRPr lang="en-GB" sz="2600" kern="1200" dirty="0"/>
        </a:p>
      </dsp:txBody>
      <dsp:txXfrm>
        <a:off x="84479" y="84479"/>
        <a:ext cx="7443600" cy="27153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0DDC9-CB91-4F7C-BD34-1138074DB9C2}">
      <dsp:nvSpPr>
        <dsp:cNvPr id="0" name=""/>
        <dsp:cNvSpPr/>
      </dsp:nvSpPr>
      <dsp:spPr>
        <a:xfrm>
          <a:off x="0" y="0"/>
          <a:ext cx="7015562" cy="3309009"/>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Using academic and employability datasets we utilize machine learning classification to predict students academic outcome and assess professional readiness to facilitate early institutional intervention and personalized career guidance to develop a AI-powered student success platform. </a:t>
          </a:r>
          <a:endParaRPr lang="en-GB" sz="2700" kern="1200" dirty="0"/>
        </a:p>
      </dsp:txBody>
      <dsp:txXfrm>
        <a:off x="96918" y="96918"/>
        <a:ext cx="6821726" cy="31151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9C01B-01B5-42CD-93EA-3F806123ACB6}">
      <dsp:nvSpPr>
        <dsp:cNvPr id="0" name=""/>
        <dsp:cNvSpPr/>
      </dsp:nvSpPr>
      <dsp:spPr>
        <a:xfrm>
          <a:off x="4294067" y="-153326"/>
          <a:ext cx="2452730" cy="2355693"/>
        </a:xfrm>
        <a:prstGeom prst="ellips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1. What are the most significant predictors of student dropout?</a:t>
          </a:r>
          <a:endParaRPr lang="en-GB" sz="2000" kern="1200" dirty="0">
            <a:solidFill>
              <a:schemeClr val="tx1"/>
            </a:solidFill>
          </a:endParaRPr>
        </a:p>
      </dsp:txBody>
      <dsp:txXfrm>
        <a:off x="4653261" y="191657"/>
        <a:ext cx="1734342" cy="1665727"/>
      </dsp:txXfrm>
    </dsp:sp>
    <dsp:sp modelId="{98F3AB72-37DD-41B3-A65D-7C2A3DC5A065}">
      <dsp:nvSpPr>
        <dsp:cNvPr id="0" name=""/>
        <dsp:cNvSpPr/>
      </dsp:nvSpPr>
      <dsp:spPr>
        <a:xfrm rot="1532494">
          <a:off x="6785349" y="1463026"/>
          <a:ext cx="512641" cy="576885"/>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a:off x="6792864" y="1545248"/>
        <a:ext cx="358849" cy="346131"/>
      </dsp:txXfrm>
    </dsp:sp>
    <dsp:sp modelId="{3AD066E3-B1C9-4CD8-A879-551C5A6854FB}">
      <dsp:nvSpPr>
        <dsp:cNvPr id="0" name=""/>
        <dsp:cNvSpPr/>
      </dsp:nvSpPr>
      <dsp:spPr>
        <a:xfrm>
          <a:off x="7412774" y="926963"/>
          <a:ext cx="2489992" cy="3193571"/>
        </a:xfrm>
        <a:prstGeom prst="ellipse">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2. How strongly do first-semester academic grades correlate with final graduation?</a:t>
          </a:r>
          <a:endParaRPr lang="en-GB" sz="2000" kern="1200" dirty="0">
            <a:solidFill>
              <a:schemeClr val="tx1"/>
            </a:solidFill>
          </a:endParaRPr>
        </a:p>
      </dsp:txBody>
      <dsp:txXfrm>
        <a:off x="7777425" y="1394651"/>
        <a:ext cx="1760690" cy="2258195"/>
      </dsp:txXfrm>
    </dsp:sp>
    <dsp:sp modelId="{8891E104-DC25-458F-AB3D-0A03233CC496}">
      <dsp:nvSpPr>
        <dsp:cNvPr id="0" name=""/>
        <dsp:cNvSpPr/>
      </dsp:nvSpPr>
      <dsp:spPr>
        <a:xfrm rot="9232520">
          <a:off x="6959971" y="2968705"/>
          <a:ext cx="404749" cy="576885"/>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10800000">
        <a:off x="7075193" y="3057349"/>
        <a:ext cx="283324" cy="346131"/>
      </dsp:txXfrm>
    </dsp:sp>
    <dsp:sp modelId="{48F7C0C4-281B-4D01-9D8E-A9FF4DB4EFBD}">
      <dsp:nvSpPr>
        <dsp:cNvPr id="0" name=""/>
        <dsp:cNvSpPr/>
      </dsp:nvSpPr>
      <dsp:spPr>
        <a:xfrm>
          <a:off x="4387934" y="2616222"/>
          <a:ext cx="2532793" cy="2761000"/>
        </a:xfrm>
        <a:prstGeom prst="ellips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3. What impact do financial factors (scholarships and debt) have on student success?</a:t>
          </a:r>
          <a:endParaRPr lang="en-GB" sz="2000" kern="1200" dirty="0">
            <a:solidFill>
              <a:schemeClr val="tx1"/>
            </a:solidFill>
          </a:endParaRPr>
        </a:p>
      </dsp:txBody>
      <dsp:txXfrm>
        <a:off x="4758853" y="3020561"/>
        <a:ext cx="1790955" cy="1952322"/>
      </dsp:txXfrm>
    </dsp:sp>
    <dsp:sp modelId="{69A5D35F-468F-4E61-AF31-88F88448578C}">
      <dsp:nvSpPr>
        <dsp:cNvPr id="0" name=""/>
        <dsp:cNvSpPr/>
      </dsp:nvSpPr>
      <dsp:spPr>
        <a:xfrm rot="11931599">
          <a:off x="3489628" y="3088393"/>
          <a:ext cx="700054" cy="576885"/>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10800000">
        <a:off x="3658047" y="3231742"/>
        <a:ext cx="526989" cy="346131"/>
      </dsp:txXfrm>
    </dsp:sp>
    <dsp:sp modelId="{D909B7B6-C520-4ADC-93CC-8E59D6154E37}">
      <dsp:nvSpPr>
        <dsp:cNvPr id="0" name=""/>
        <dsp:cNvSpPr/>
      </dsp:nvSpPr>
      <dsp:spPr>
        <a:xfrm>
          <a:off x="626715" y="1180936"/>
          <a:ext cx="2620924" cy="3092039"/>
        </a:xfrm>
        <a:prstGeom prst="ellipse">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4. Can we accurately predict a student's employability level based on their academic and technical skill profile?</a:t>
          </a:r>
          <a:endParaRPr lang="en-GB" sz="2000" kern="1200" dirty="0">
            <a:solidFill>
              <a:schemeClr val="tx1"/>
            </a:solidFill>
          </a:endParaRPr>
        </a:p>
      </dsp:txBody>
      <dsp:txXfrm>
        <a:off x="1010540" y="1633755"/>
        <a:ext cx="1853274" cy="2186401"/>
      </dsp:txXfrm>
    </dsp:sp>
    <dsp:sp modelId="{C70F2F95-F54D-4CE7-9627-DE879690EE15}">
      <dsp:nvSpPr>
        <dsp:cNvPr id="0" name=""/>
        <dsp:cNvSpPr/>
      </dsp:nvSpPr>
      <dsp:spPr>
        <a:xfrm rot="20075232">
          <a:off x="3395816" y="1568691"/>
          <a:ext cx="744291" cy="576885"/>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a:off x="3404189" y="1721202"/>
        <a:ext cx="571226" cy="3461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83C22-8BA7-4A40-8D15-A38EB0302EC3}">
      <dsp:nvSpPr>
        <dsp:cNvPr id="0" name=""/>
        <dsp:cNvSpPr/>
      </dsp:nvSpPr>
      <dsp:spPr>
        <a:xfrm>
          <a:off x="0" y="0"/>
          <a:ext cx="10983132" cy="2019974"/>
        </a:xfrm>
        <a:prstGeom prst="roundRect">
          <a:avLst/>
        </a:prstGeom>
        <a:solidFill>
          <a:schemeClr val="accent2">
            <a:lumMod val="60000"/>
            <a:lumOff val="40000"/>
          </a:schemeClr>
        </a:solidFill>
        <a:ln>
          <a:solidFill>
            <a:schemeClr val="accent2">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1. What are the most significant predictors of student dropout?</a:t>
          </a:r>
          <a:endParaRPr lang="en-US" sz="1800" kern="1200" dirty="0"/>
        </a:p>
        <a:p>
          <a:pPr marL="0" lvl="0" indent="0" algn="l" defTabSz="800100">
            <a:lnSpc>
              <a:spcPct val="90000"/>
            </a:lnSpc>
            <a:spcBef>
              <a:spcPct val="0"/>
            </a:spcBef>
            <a:spcAft>
              <a:spcPct val="35000"/>
            </a:spcAft>
            <a:buNone/>
          </a:pPr>
          <a:r>
            <a:rPr lang="en-US" sz="1800" kern="1200" dirty="0"/>
            <a:t>Based on graphic analysis shown above, the most powerful predictor of dropout is a lack of </a:t>
          </a:r>
          <a:r>
            <a:rPr lang="en-US" sz="1800" kern="1200" dirty="0">
              <a:highlight>
                <a:srgbClr val="FFFF00"/>
              </a:highlight>
            </a:rPr>
            <a:t>academic momentum (low total_units_approved)</a:t>
          </a:r>
          <a:r>
            <a:rPr lang="en-US" sz="1800" kern="1200" dirty="0"/>
            <a:t>. Failing to secure passing grades in the first semester pushes the AI’s risk-prediction model heavily towards “Dropout”. Secondary drivers are demographic (age_at_enrollment) and financial (debtor status). Therefore, intervention must happen during the first 6 months.</a:t>
          </a:r>
          <a:endParaRPr lang="en-GB" sz="1800" kern="1200" dirty="0"/>
        </a:p>
      </dsp:txBody>
      <dsp:txXfrm>
        <a:off x="98607" y="98607"/>
        <a:ext cx="10785918" cy="1822760"/>
      </dsp:txXfrm>
    </dsp:sp>
    <dsp:sp modelId="{53EE92A4-E8B4-4B21-9762-1CDE27D6ED26}">
      <dsp:nvSpPr>
        <dsp:cNvPr id="0" name=""/>
        <dsp:cNvSpPr/>
      </dsp:nvSpPr>
      <dsp:spPr>
        <a:xfrm>
          <a:off x="0" y="2032860"/>
          <a:ext cx="10983132" cy="1370738"/>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solidFill>
            <a:schemeClr val="accent2">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2. How do daily behaviors impact Academic Risk mid-semester?</a:t>
          </a:r>
          <a:endParaRPr lang="en-US" sz="1800" kern="1200" dirty="0"/>
        </a:p>
        <a:p>
          <a:pPr marL="0" lvl="0" indent="0" algn="l" defTabSz="800100">
            <a:lnSpc>
              <a:spcPct val="90000"/>
            </a:lnSpc>
            <a:spcBef>
              <a:spcPct val="0"/>
            </a:spcBef>
            <a:spcAft>
              <a:spcPct val="35000"/>
            </a:spcAft>
            <a:buNone/>
          </a:pPr>
          <a:r>
            <a:rPr lang="en-US" sz="1800" kern="1200" dirty="0"/>
            <a:t>Exceptionally strongly. Our models confirmed that while historical GPA is a strong baseline, behavioral metrics like </a:t>
          </a:r>
          <a:r>
            <a:rPr lang="en-US" sz="1800" kern="1200" dirty="0">
              <a:highlight>
                <a:srgbClr val="FFFF00"/>
              </a:highlight>
            </a:rPr>
            <a:t>high absences and low hours_studied </a:t>
          </a:r>
          <a:r>
            <a:rPr lang="en-US" sz="1800" kern="1200" dirty="0"/>
            <a:t>act as massive multipliers for </a:t>
          </a:r>
          <a:r>
            <a:rPr lang="en-US" sz="1800" kern="1200" dirty="0">
              <a:highlight>
                <a:srgbClr val="FFFF00"/>
              </a:highlight>
            </a:rPr>
            <a:t>academic risk</a:t>
          </a:r>
          <a:r>
            <a:rPr lang="en-US" sz="1800" kern="1200" dirty="0"/>
            <a:t>.</a:t>
          </a:r>
          <a:endParaRPr lang="en-GB" sz="1800" kern="1200" dirty="0"/>
        </a:p>
      </dsp:txBody>
      <dsp:txXfrm>
        <a:off x="66914" y="2099774"/>
        <a:ext cx="10849304" cy="12369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E1E778-E590-4158-B849-880CB2262EDB}">
      <dsp:nvSpPr>
        <dsp:cNvPr id="0" name=""/>
        <dsp:cNvSpPr/>
      </dsp:nvSpPr>
      <dsp:spPr>
        <a:xfrm>
          <a:off x="0" y="300966"/>
          <a:ext cx="10983132" cy="1787175"/>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rPr>
            <a:t>3. Can we accurately predict a student's employability level?</a:t>
          </a:r>
          <a:endParaRPr lang="en-US" sz="1800" b="0" kern="1200" dirty="0">
            <a:solidFill>
              <a:schemeClr val="tx1"/>
            </a:solidFill>
          </a:endParaRPr>
        </a:p>
        <a:p>
          <a:pPr marL="0" lvl="0" indent="0" algn="l" defTabSz="800100">
            <a:lnSpc>
              <a:spcPct val="90000"/>
            </a:lnSpc>
            <a:spcBef>
              <a:spcPct val="0"/>
            </a:spcBef>
            <a:spcAft>
              <a:spcPct val="35000"/>
            </a:spcAft>
            <a:buNone/>
          </a:pPr>
          <a:r>
            <a:rPr lang="en-US" sz="1800" b="0" kern="1200" dirty="0">
              <a:solidFill>
                <a:schemeClr val="tx1"/>
              </a:solidFill>
            </a:rPr>
            <a:t>Yes. Our modeling proves that employability is highly predictable. Furthermore, our analysis revealed that while a </a:t>
          </a:r>
          <a:r>
            <a:rPr lang="en-US" sz="1800" b="0" kern="1200" dirty="0">
              <a:solidFill>
                <a:schemeClr val="tx1"/>
              </a:solidFill>
              <a:highlight>
                <a:srgbClr val="FFFF00"/>
              </a:highlight>
            </a:rPr>
            <a:t>high GPA is important, tech_score_avg (Technical Skills) </a:t>
          </a:r>
          <a:r>
            <a:rPr lang="en-US" sz="1800" b="0" kern="1200" dirty="0">
              <a:solidFill>
                <a:schemeClr val="tx1"/>
              </a:solidFill>
            </a:rPr>
            <a:t>is actually the number one driver for achieving a "High Readiness" employability classification. By combining this with our Resume NLP model, we can accurately assess both the student's skill levels and their market fit.</a:t>
          </a:r>
        </a:p>
      </dsp:txBody>
      <dsp:txXfrm>
        <a:off x="87243" y="388209"/>
        <a:ext cx="10808646" cy="16126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AEBB0-ED32-44E0-9570-0E1C58713EB2}">
      <dsp:nvSpPr>
        <dsp:cNvPr id="0" name=""/>
        <dsp:cNvSpPr/>
      </dsp:nvSpPr>
      <dsp:spPr>
        <a:xfrm>
          <a:off x="0" y="299498"/>
          <a:ext cx="10542202" cy="1521000"/>
        </a:xfrm>
        <a:prstGeom prst="roundRect">
          <a:avLst/>
        </a:prstGeom>
        <a:solidFill>
          <a:schemeClr val="accent2">
            <a:lumMod val="60000"/>
            <a:lumOff val="4000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1. Build a classification model to predict student academic outcomes</a:t>
          </a:r>
        </a:p>
        <a:p>
          <a:pPr marL="0" lvl="0" indent="0" algn="l" defTabSz="800100">
            <a:lnSpc>
              <a:spcPct val="90000"/>
            </a:lnSpc>
            <a:spcBef>
              <a:spcPct val="0"/>
            </a:spcBef>
            <a:spcAft>
              <a:spcPct val="35000"/>
            </a:spcAft>
            <a:buNone/>
          </a:pPr>
          <a:r>
            <a:rPr lang="en-US" sz="1800" kern="1200" dirty="0"/>
            <a:t>Successfully trained our datasets to accurately distinguish between Dropouts and Graduates, proving that early academic momentum and financial stability are the ultimate anchors for university retention.</a:t>
          </a:r>
          <a:endParaRPr lang="en-GB" sz="1800" kern="1200" dirty="0"/>
        </a:p>
      </dsp:txBody>
      <dsp:txXfrm>
        <a:off x="74249" y="373747"/>
        <a:ext cx="10393704" cy="1372502"/>
      </dsp:txXfrm>
    </dsp:sp>
    <dsp:sp modelId="{8318B7DF-A48E-4DE6-A430-D7954AFD2412}">
      <dsp:nvSpPr>
        <dsp:cNvPr id="0" name=""/>
        <dsp:cNvSpPr/>
      </dsp:nvSpPr>
      <dsp:spPr>
        <a:xfrm>
          <a:off x="0" y="2007699"/>
          <a:ext cx="10542202" cy="1521000"/>
        </a:xfrm>
        <a:prstGeom prst="roundRect">
          <a:avLst/>
        </a:prstGeom>
        <a:solidFill>
          <a:schemeClr val="lt1">
            <a:hueOff val="0"/>
            <a:satOff val="0"/>
            <a:lumOff val="0"/>
            <a:alphaOff val="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2. Develop an employability assessment</a:t>
          </a:r>
        </a:p>
        <a:p>
          <a:pPr marL="0" lvl="0" indent="0" algn="l" defTabSz="800100">
            <a:lnSpc>
              <a:spcPct val="90000"/>
            </a:lnSpc>
            <a:spcBef>
              <a:spcPct val="0"/>
            </a:spcBef>
            <a:spcAft>
              <a:spcPct val="35000"/>
            </a:spcAft>
            <a:buNone/>
          </a:pPr>
          <a:r>
            <a:rPr lang="en-US" sz="1800" kern="1200" dirty="0"/>
            <a:t>Using our datasets, our classifiers accurately categorize students into professional readiness levels (Low, Medium and High). We proved that technical and soft skills heavily outweigh baseline GPA when determining job market readiness.  </a:t>
          </a:r>
          <a:endParaRPr lang="en-GB" sz="1800" kern="1200" dirty="0"/>
        </a:p>
      </dsp:txBody>
      <dsp:txXfrm>
        <a:off x="74249" y="2081948"/>
        <a:ext cx="10393704" cy="13725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30FFC-2A8D-4A15-AC54-2490444D61F9}">
      <dsp:nvSpPr>
        <dsp:cNvPr id="0" name=""/>
        <dsp:cNvSpPr/>
      </dsp:nvSpPr>
      <dsp:spPr>
        <a:xfrm>
          <a:off x="0" y="760850"/>
          <a:ext cx="10654746" cy="1521000"/>
        </a:xfrm>
        <a:prstGeom prst="roundRect">
          <a:avLst/>
        </a:prstGeom>
        <a:solidFill>
          <a:schemeClr val="accent2">
            <a:lumMod val="60000"/>
            <a:lumOff val="4000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rPr>
            <a:t>3. Identify the key demographic and academic features that drive student risk</a:t>
          </a:r>
        </a:p>
        <a:p>
          <a:pPr marL="0" lvl="0" indent="0" algn="l" defTabSz="800100">
            <a:lnSpc>
              <a:spcPct val="90000"/>
            </a:lnSpc>
            <a:spcBef>
              <a:spcPct val="0"/>
            </a:spcBef>
            <a:spcAft>
              <a:spcPct val="35000"/>
            </a:spcAft>
            <a:buNone/>
          </a:pPr>
          <a:r>
            <a:rPr lang="en-US" sz="1800" kern="1200" dirty="0">
              <a:solidFill>
                <a:schemeClr val="tx1"/>
              </a:solidFill>
            </a:rPr>
            <a:t>We identified that demographic features (Age at Enrollment, Debtor Status) and academic features (1st Semester Units Approved, GPA, Hours Studied) are the absolute highest, quantifiable drivers of student risk.</a:t>
          </a:r>
          <a:endParaRPr lang="en-GB" sz="1800" kern="1200" dirty="0">
            <a:solidFill>
              <a:schemeClr val="tx1"/>
            </a:solidFill>
          </a:endParaRPr>
        </a:p>
      </dsp:txBody>
      <dsp:txXfrm>
        <a:off x="74249" y="835099"/>
        <a:ext cx="10506248" cy="1372502"/>
      </dsp:txXfrm>
    </dsp:sp>
    <dsp:sp modelId="{C4703EBD-B00F-4D90-A6D4-C7704556733F}">
      <dsp:nvSpPr>
        <dsp:cNvPr id="0" name=""/>
        <dsp:cNvSpPr/>
      </dsp:nvSpPr>
      <dsp:spPr>
        <a:xfrm>
          <a:off x="0" y="2469050"/>
          <a:ext cx="10654746" cy="1521000"/>
        </a:xfrm>
        <a:prstGeom prst="roundRect">
          <a:avLst/>
        </a:prstGeom>
        <a:no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rPr>
            <a:t>4. Created a user-friendly interface for real-time prediction and decision-making</a:t>
          </a:r>
        </a:p>
        <a:p>
          <a:pPr marL="0" lvl="0" indent="0" algn="l" defTabSz="800100">
            <a:lnSpc>
              <a:spcPct val="90000"/>
            </a:lnSpc>
            <a:spcBef>
              <a:spcPct val="0"/>
            </a:spcBef>
            <a:spcAft>
              <a:spcPct val="35000"/>
            </a:spcAft>
            <a:buNone/>
          </a:pPr>
          <a:r>
            <a:rPr lang="en-US" sz="1800" kern="1200" dirty="0">
              <a:solidFill>
                <a:schemeClr val="tx1"/>
              </a:solidFill>
            </a:rPr>
            <a:t>We created an interface that allows academic advisors and career counselors to run live, real-time inferences on new students.</a:t>
          </a:r>
          <a:endParaRPr lang="en-GB" sz="1800" kern="1200" dirty="0">
            <a:solidFill>
              <a:schemeClr val="tx1"/>
            </a:solidFill>
          </a:endParaRPr>
        </a:p>
      </dsp:txBody>
      <dsp:txXfrm>
        <a:off x="74249" y="2543299"/>
        <a:ext cx="10506248" cy="13725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B7CAA6-BDDF-4E08-85C2-80A4F29B0C60}">
      <dsp:nvSpPr>
        <dsp:cNvPr id="0" name=""/>
        <dsp:cNvSpPr/>
      </dsp:nvSpPr>
      <dsp:spPr>
        <a:xfrm>
          <a:off x="0" y="90300"/>
          <a:ext cx="10958285" cy="1600560"/>
        </a:xfrm>
        <a:prstGeom prst="roundRect">
          <a:avLst/>
        </a:prstGeom>
        <a:solidFill>
          <a:schemeClr val="accent2">
            <a:lumMod val="60000"/>
            <a:lumOff val="4000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1.Early Warning System:</a:t>
          </a:r>
          <a:endParaRPr lang="en-US" sz="1900" kern="1200" dirty="0"/>
        </a:p>
        <a:p>
          <a:pPr marL="0" lvl="0" indent="0" algn="l" defTabSz="844550">
            <a:lnSpc>
              <a:spcPct val="90000"/>
            </a:lnSpc>
            <a:spcBef>
              <a:spcPct val="0"/>
            </a:spcBef>
            <a:spcAft>
              <a:spcPct val="35000"/>
            </a:spcAft>
            <a:buNone/>
          </a:pPr>
          <a:r>
            <a:rPr lang="en-US" sz="1900" kern="1200" dirty="0"/>
            <a:t>Integrate the Dropout and Academic Risk models into the university portal. If a student triggers the financial risk model early, or the behavioral risk model mid-semester, advisors should automatically be notified to intervene.</a:t>
          </a:r>
          <a:endParaRPr lang="en-GB" sz="1900" kern="1200" dirty="0"/>
        </a:p>
      </dsp:txBody>
      <dsp:txXfrm>
        <a:off x="78133" y="168433"/>
        <a:ext cx="10802019" cy="1444294"/>
      </dsp:txXfrm>
    </dsp:sp>
    <dsp:sp modelId="{3E59C26F-AAC5-4496-9DD6-04428104B735}">
      <dsp:nvSpPr>
        <dsp:cNvPr id="0" name=""/>
        <dsp:cNvSpPr/>
      </dsp:nvSpPr>
      <dsp:spPr>
        <a:xfrm>
          <a:off x="0" y="1745580"/>
          <a:ext cx="10958285" cy="1600560"/>
        </a:xfrm>
        <a:prstGeom prst="roundRect">
          <a:avLst/>
        </a:prstGeom>
        <a:solidFill>
          <a:schemeClr val="lt1">
            <a:hueOff val="0"/>
            <a:satOff val="0"/>
            <a:lumOff val="0"/>
            <a:alphaOff val="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2.Curriculum Updates</a:t>
          </a:r>
          <a:r>
            <a:rPr lang="en-US" sz="1900" kern="1200" dirty="0"/>
            <a:t>: </a:t>
          </a:r>
        </a:p>
        <a:p>
          <a:pPr marL="0" lvl="0" indent="0" algn="l" defTabSz="844550">
            <a:lnSpc>
              <a:spcPct val="90000"/>
            </a:lnSpc>
            <a:spcBef>
              <a:spcPct val="0"/>
            </a:spcBef>
            <a:spcAft>
              <a:spcPct val="35000"/>
            </a:spcAft>
            <a:buNone/>
          </a:pPr>
          <a:r>
            <a:rPr lang="en-US" sz="1900" kern="1200" dirty="0"/>
            <a:t>Since technical skills heavily outweigh general GPA for job readiness, career services should push heavily for mandatory technical workshops before the senior year.</a:t>
          </a:r>
          <a:endParaRPr lang="en-GB" sz="1900" kern="1200" dirty="0"/>
        </a:p>
      </dsp:txBody>
      <dsp:txXfrm>
        <a:off x="78133" y="1823713"/>
        <a:ext cx="10802019" cy="1444294"/>
      </dsp:txXfrm>
    </dsp:sp>
    <dsp:sp modelId="{FEF8B5A5-D818-44B0-8EFF-88BD5E20E6AE}">
      <dsp:nvSpPr>
        <dsp:cNvPr id="0" name=""/>
        <dsp:cNvSpPr/>
      </dsp:nvSpPr>
      <dsp:spPr>
        <a:xfrm>
          <a:off x="0" y="3400860"/>
          <a:ext cx="10958285" cy="1600560"/>
        </a:xfrm>
        <a:prstGeom prst="roundRect">
          <a:avLst/>
        </a:prstGeom>
        <a:solidFill>
          <a:schemeClr val="accent2">
            <a:lumMod val="60000"/>
            <a:lumOff val="4000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3.Automated Resume Audit</a:t>
          </a:r>
          <a:endParaRPr lang="en-US" sz="1900" kern="1200" dirty="0"/>
        </a:p>
        <a:p>
          <a:pPr marL="0" lvl="0" indent="0" algn="l" defTabSz="844550">
            <a:lnSpc>
              <a:spcPct val="90000"/>
            </a:lnSpc>
            <a:spcBef>
              <a:spcPct val="0"/>
            </a:spcBef>
            <a:spcAft>
              <a:spcPct val="35000"/>
            </a:spcAft>
            <a:buNone/>
          </a:pPr>
          <a:r>
            <a:rPr lang="en-US" sz="1900" kern="1200" dirty="0"/>
            <a:t>Utilize the NLP model to automatically scan student resumes submitted to the career center, instantly flagging resumes that lack the keyword density required for their target job category.</a:t>
          </a:r>
          <a:endParaRPr lang="en-GB" sz="1900" kern="1200" dirty="0"/>
        </a:p>
      </dsp:txBody>
      <dsp:txXfrm>
        <a:off x="78133" y="3478993"/>
        <a:ext cx="10802019" cy="144429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2A41F-8C94-42D4-A80C-29208E04BBED}">
      <dsp:nvSpPr>
        <dsp:cNvPr id="0" name=""/>
        <dsp:cNvSpPr/>
      </dsp:nvSpPr>
      <dsp:spPr>
        <a:xfrm>
          <a:off x="0" y="456884"/>
          <a:ext cx="11117586" cy="1741310"/>
        </a:xfrm>
        <a:prstGeom prst="roundRect">
          <a:avLst/>
        </a:prstGeom>
        <a:solidFill>
          <a:schemeClr val="lt1">
            <a:hueOff val="0"/>
            <a:satOff val="0"/>
            <a:lumOff val="0"/>
            <a:alphaOff val="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Streamlit Deployment</a:t>
          </a:r>
          <a:r>
            <a:rPr lang="en-US" sz="1800" kern="1200" dirty="0"/>
            <a:t>:</a:t>
          </a:r>
        </a:p>
        <a:p>
          <a:pPr marL="0" lvl="0" indent="0" algn="l" defTabSz="800100">
            <a:lnSpc>
              <a:spcPct val="90000"/>
            </a:lnSpc>
            <a:spcBef>
              <a:spcPct val="0"/>
            </a:spcBef>
            <a:spcAft>
              <a:spcPct val="35000"/>
            </a:spcAft>
            <a:buNone/>
          </a:pPr>
          <a:r>
            <a:rPr lang="en-US" sz="1800" kern="1200" dirty="0"/>
            <a:t>We deployed the best-performing models into an interactive, user-friendly.</a:t>
          </a:r>
        </a:p>
        <a:p>
          <a:pPr marL="0" lvl="0" indent="0" algn="l" defTabSz="800100">
            <a:lnSpc>
              <a:spcPct val="90000"/>
            </a:lnSpc>
            <a:spcBef>
              <a:spcPct val="0"/>
            </a:spcBef>
            <a:spcAft>
              <a:spcPct val="35000"/>
            </a:spcAft>
            <a:buNone/>
          </a:pPr>
          <a:r>
            <a:rPr lang="en-US" sz="1800" kern="1200" dirty="0"/>
            <a:t>Streamlit dashboard so that stakeholders can input student data and get live </a:t>
          </a:r>
        </a:p>
        <a:p>
          <a:pPr marL="0" lvl="0" indent="0" algn="l" defTabSz="800100">
            <a:lnSpc>
              <a:spcPct val="90000"/>
            </a:lnSpc>
            <a:spcBef>
              <a:spcPct val="0"/>
            </a:spcBef>
            <a:spcAft>
              <a:spcPct val="35000"/>
            </a:spcAft>
            <a:buNone/>
          </a:pPr>
          <a:r>
            <a:rPr lang="en-US" sz="1800" kern="1200" dirty="0"/>
            <a:t>predictions.  </a:t>
          </a:r>
          <a:endParaRPr lang="en-GB" sz="1800" kern="1200" dirty="0"/>
        </a:p>
      </dsp:txBody>
      <dsp:txXfrm>
        <a:off x="85004" y="541888"/>
        <a:ext cx="10947578" cy="1571302"/>
      </dsp:txXfrm>
    </dsp:sp>
    <dsp:sp modelId="{BE575C0C-E4CB-4D27-A26D-EC4AA036FEB1}">
      <dsp:nvSpPr>
        <dsp:cNvPr id="0" name=""/>
        <dsp:cNvSpPr/>
      </dsp:nvSpPr>
      <dsp:spPr>
        <a:xfrm>
          <a:off x="0" y="2267315"/>
          <a:ext cx="11117586" cy="2631572"/>
        </a:xfrm>
        <a:prstGeom prst="roundRect">
          <a:avLst/>
        </a:prstGeom>
        <a:solidFill>
          <a:schemeClr val="accent2">
            <a:lumMod val="60000"/>
            <a:lumOff val="40000"/>
          </a:schemeClr>
        </a:solidFill>
        <a:ln w="12700" cap="flat" cmpd="sng" algn="ctr">
          <a:solidFill>
            <a:schemeClr val="accent2">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Integration into University Systems</a:t>
          </a:r>
          <a:r>
            <a:rPr lang="en-US" sz="1800" kern="1200" dirty="0"/>
            <a:t>:</a:t>
          </a:r>
        </a:p>
        <a:p>
          <a:pPr marL="0" lvl="0" indent="0" algn="l" defTabSz="800100">
            <a:lnSpc>
              <a:spcPct val="90000"/>
            </a:lnSpc>
            <a:spcBef>
              <a:spcPct val="0"/>
            </a:spcBef>
            <a:spcAft>
              <a:spcPct val="35000"/>
            </a:spcAft>
            <a:buNone/>
          </a:pPr>
          <a:r>
            <a:rPr lang="en-US" sz="1800" kern="1200" dirty="0"/>
            <a:t>Our ultimate goal is to remove the need for manual data entry. By building a REST API using Flask,</a:t>
          </a:r>
        </a:p>
        <a:p>
          <a:pPr marL="0" lvl="0" indent="0" algn="l" defTabSz="800100">
            <a:lnSpc>
              <a:spcPct val="90000"/>
            </a:lnSpc>
            <a:spcBef>
              <a:spcPct val="0"/>
            </a:spcBef>
            <a:spcAft>
              <a:spcPct val="35000"/>
            </a:spcAft>
            <a:buNone/>
          </a:pPr>
          <a:r>
            <a:rPr lang="en-US" sz="1800" kern="1200" dirty="0"/>
            <a:t>the university's main student database (e.g. Canvas) can automatically send daily student data </a:t>
          </a:r>
        </a:p>
        <a:p>
          <a:pPr marL="0" lvl="0" indent="0" algn="l" defTabSz="800100">
            <a:lnSpc>
              <a:spcPct val="90000"/>
            </a:lnSpc>
            <a:spcBef>
              <a:spcPct val="0"/>
            </a:spcBef>
            <a:spcAft>
              <a:spcPct val="35000"/>
            </a:spcAft>
            <a:buNone/>
          </a:pPr>
          <a:r>
            <a:rPr lang="en-US" sz="1800" kern="1200" dirty="0"/>
            <a:t>directly to our predictive models in the cloud, generating automated risk reports for the </a:t>
          </a:r>
        </a:p>
        <a:p>
          <a:pPr marL="0" lvl="0" indent="0" algn="l" defTabSz="800100">
            <a:lnSpc>
              <a:spcPct val="90000"/>
            </a:lnSpc>
            <a:spcBef>
              <a:spcPct val="0"/>
            </a:spcBef>
            <a:spcAft>
              <a:spcPct val="35000"/>
            </a:spcAft>
            <a:buNone/>
          </a:pPr>
          <a:r>
            <a:rPr lang="en-US" sz="1800" kern="1200" dirty="0"/>
            <a:t>administration in real-time.</a:t>
          </a:r>
          <a:endParaRPr lang="en-GB" sz="1800" kern="1200" dirty="0"/>
        </a:p>
      </dsp:txBody>
      <dsp:txXfrm>
        <a:off x="128463" y="2395778"/>
        <a:ext cx="10860660" cy="23746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17</a:t>
            </a:fld>
            <a:endParaRPr lang="en-US"/>
          </a:p>
        </p:txBody>
      </p:sp>
    </p:spTree>
    <p:extLst>
      <p:ext uri="{BB962C8B-B14F-4D97-AF65-F5344CB8AC3E}">
        <p14:creationId xmlns:p14="http://schemas.microsoft.com/office/powerpoint/2010/main" val="328754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5/18/2026</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svg"/><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diagramLayout" Target="../diagrams/layout3.xml"/><Relationship Id="rId7" Type="http://schemas.openxmlformats.org/officeDocument/2006/relationships/image" Target="../media/image9.png"/><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diagramData" Target="../diagrams/data6.xml"/><Relationship Id="rId2" Type="http://schemas.openxmlformats.org/officeDocument/2006/relationships/diagramData" Target="../diagrams/data4.xml"/><Relationship Id="rId16" Type="http://schemas.microsoft.com/office/2007/relationships/diagramDrawing" Target="../diagrams/drawing6.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8.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8.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hyperlink" Target="mailto:andrew@gmail.com" TargetMode="External"/><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mailto:ted@gmail.com" TargetMode="External"/><Relationship Id="rId5" Type="http://schemas.openxmlformats.org/officeDocument/2006/relationships/hyperlink" Target="mailto:mercy@gmail.com" TargetMode="External"/><Relationship Id="rId4" Type="http://schemas.openxmlformats.org/officeDocument/2006/relationships/hyperlink" Target="mailto:bodookeyo@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a:xfrm>
            <a:off x="1524000" y="1142750"/>
            <a:ext cx="8587409" cy="1790700"/>
          </a:xfrm>
        </p:spPr>
        <p:txBody>
          <a:bodyPr/>
          <a:lstStyle/>
          <a:p>
            <a:r>
              <a:rPr lang="en-US" b="1" dirty="0"/>
              <a:t>AI-Powered Student Risk &amp; Employability Predictor</a:t>
            </a:r>
            <a:br>
              <a:rPr lang="en-US" dirty="0"/>
            </a:br>
            <a:endParaRPr lang="en-US" dirty="0"/>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a:xfrm>
            <a:off x="1524000" y="2988365"/>
            <a:ext cx="9144000" cy="1287675"/>
          </a:xfrm>
        </p:spPr>
        <p:txBody>
          <a:bodyPr/>
          <a:lstStyle/>
          <a:p>
            <a:r>
              <a:rPr lang="en-US" dirty="0"/>
              <a:t>Predictive Analytics - Supervised Machine Learning (Multiclass Classification)</a:t>
            </a:r>
          </a:p>
          <a:p>
            <a:endParaRPr lang="en-US" dirty="0"/>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7865727" y="4005972"/>
            <a:ext cx="3760738" cy="2054087"/>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800" b="1" dirty="0"/>
              <a:t>Authors:</a:t>
            </a:r>
            <a:endParaRPr lang="en-GB" sz="1800" dirty="0"/>
          </a:p>
          <a:p>
            <a:r>
              <a:rPr lang="en-GB" sz="1800" dirty="0"/>
              <a:t>1. Andrew Nyakiba</a:t>
            </a:r>
            <a:br>
              <a:rPr lang="en-GB" sz="1800" dirty="0"/>
            </a:br>
            <a:r>
              <a:rPr lang="en-GB" sz="1800" dirty="0"/>
              <a:t>2. Angela Wachira</a:t>
            </a:r>
            <a:br>
              <a:rPr lang="en-GB" sz="1800" dirty="0"/>
            </a:br>
            <a:r>
              <a:rPr lang="en-GB" sz="1800" dirty="0"/>
              <a:t>3. Bobbin Bodo</a:t>
            </a:r>
            <a:br>
              <a:rPr lang="en-GB" sz="1800" dirty="0"/>
            </a:br>
            <a:r>
              <a:rPr lang="en-GB" sz="1800" dirty="0"/>
              <a:t>4. Mercy Chepkoech</a:t>
            </a:r>
            <a:br>
              <a:rPr lang="en-GB" sz="1800" dirty="0"/>
            </a:br>
            <a:r>
              <a:rPr lang="en-GB" sz="1800" dirty="0"/>
              <a:t>5. Ted Mwenda</a:t>
            </a:r>
          </a:p>
          <a:p>
            <a:endParaRPr lang="en-US" sz="1200" u="sng" dirty="0"/>
          </a:p>
        </p:txBody>
      </p:sp>
    </p:spTree>
    <p:extLst>
      <p:ext uri="{BB962C8B-B14F-4D97-AF65-F5344CB8AC3E}">
        <p14:creationId xmlns:p14="http://schemas.microsoft.com/office/powerpoint/2010/main" val="299758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750" fill="hold"/>
                                        <p:tgtEl>
                                          <p:spTgt spid="4"/>
                                        </p:tgtEl>
                                        <p:attrNameLst>
                                          <p:attrName>ppt_x</p:attrName>
                                        </p:attrNameLst>
                                      </p:cBhvr>
                                      <p:tavLst>
                                        <p:tav tm="0">
                                          <p:val>
                                            <p:strVal val="#ppt_x"/>
                                          </p:val>
                                        </p:tav>
                                        <p:tav tm="100000">
                                          <p:val>
                                            <p:strVal val="#ppt_x"/>
                                          </p:val>
                                        </p:tav>
                                      </p:tavLst>
                                    </p:anim>
                                    <p:anim calcmode="lin" valueType="num">
                                      <p:cBhvr additive="base">
                                        <p:cTn id="20"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Head with gears">
            <a:extLst>
              <a:ext uri="{FF2B5EF4-FFF2-40B4-BE49-F238E27FC236}">
                <a16:creationId xmlns:a16="http://schemas.microsoft.com/office/drawing/2014/main" id="{C50271BF-0B00-4AE0-AF62-14082D2E5E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0636" y="2304780"/>
            <a:ext cx="2289312" cy="2321325"/>
          </a:xfrm>
          <a:prstGeom prst="rect">
            <a:avLst/>
          </a:prstGeom>
        </p:spPr>
      </p:pic>
      <p:sp>
        <p:nvSpPr>
          <p:cNvPr id="7" name="TextBox 6">
            <a:extLst>
              <a:ext uri="{FF2B5EF4-FFF2-40B4-BE49-F238E27FC236}">
                <a16:creationId xmlns:a16="http://schemas.microsoft.com/office/drawing/2014/main" id="{B3B1721F-3A36-4E14-9A5D-EF079881532B}"/>
              </a:ext>
            </a:extLst>
          </p:cNvPr>
          <p:cNvSpPr txBox="1"/>
          <p:nvPr/>
        </p:nvSpPr>
        <p:spPr>
          <a:xfrm>
            <a:off x="3339548" y="2133600"/>
            <a:ext cx="6851373" cy="2663687"/>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B310A00F-E7C1-4DA3-A55B-55E45894704B}"/>
              </a:ext>
            </a:extLst>
          </p:cNvPr>
          <p:cNvSpPr txBox="1"/>
          <p:nvPr/>
        </p:nvSpPr>
        <p:spPr>
          <a:xfrm>
            <a:off x="5989983" y="3140765"/>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16" name="Diagram 15">
            <a:extLst>
              <a:ext uri="{FF2B5EF4-FFF2-40B4-BE49-F238E27FC236}">
                <a16:creationId xmlns:a16="http://schemas.microsoft.com/office/drawing/2014/main" id="{3F181E4E-A4E4-496C-A662-B448D5D809B5}"/>
              </a:ext>
            </a:extLst>
          </p:cNvPr>
          <p:cNvGraphicFramePr/>
          <p:nvPr>
            <p:extLst>
              <p:ext uri="{D42A27DB-BD31-4B8C-83A1-F6EECF244321}">
                <p14:modId xmlns:p14="http://schemas.microsoft.com/office/powerpoint/2010/main" val="315048978"/>
              </p:ext>
            </p:extLst>
          </p:nvPr>
        </p:nvGraphicFramePr>
        <p:xfrm>
          <a:off x="2729948" y="1986843"/>
          <a:ext cx="7620000" cy="28843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angle 9">
            <a:extLst>
              <a:ext uri="{FF2B5EF4-FFF2-40B4-BE49-F238E27FC236}">
                <a16:creationId xmlns:a16="http://schemas.microsoft.com/office/drawing/2014/main" id="{9BCA069C-3415-4172-85B4-729F7DD9EB84}"/>
              </a:ext>
            </a:extLst>
          </p:cNvPr>
          <p:cNvSpPr/>
          <p:nvPr/>
        </p:nvSpPr>
        <p:spPr>
          <a:xfrm>
            <a:off x="4466969" y="312391"/>
            <a:ext cx="3046027" cy="923330"/>
          </a:xfrm>
          <a:prstGeom prst="rect">
            <a:avLst/>
          </a:prstGeom>
          <a:noFill/>
          <a:ln>
            <a:solidFill>
              <a:schemeClr val="bg1">
                <a:lumMod val="95000"/>
              </a:schemeClr>
            </a:solidFill>
          </a:ln>
        </p:spPr>
        <p:txBody>
          <a:bodyPr wrap="none" lIns="91440" tIns="45720" rIns="91440" bIns="45720">
            <a:spAutoFit/>
          </a:bodyPr>
          <a:lstStyle/>
          <a:p>
            <a:pPr algn="ctr"/>
            <a:r>
              <a:rPr lang="en-US" sz="5400" b="1" dirty="0">
                <a:ln w="9525">
                  <a:solidFill>
                    <a:schemeClr val="accent2">
                      <a:lumMod val="75000"/>
                    </a:schemeClr>
                  </a:solidFill>
                  <a:prstDash val="solid"/>
                </a:ln>
                <a:effectLst>
                  <a:outerShdw blurRad="12700" dist="38100" dir="2700000" algn="tl" rotWithShape="0">
                    <a:schemeClr val="bg1">
                      <a:lumMod val="50000"/>
                    </a:schemeClr>
                  </a:outerShdw>
                </a:effectLst>
              </a:rPr>
              <a:t>Fun Quiz</a:t>
            </a:r>
          </a:p>
        </p:txBody>
      </p:sp>
    </p:spTree>
    <p:extLst>
      <p:ext uri="{BB962C8B-B14F-4D97-AF65-F5344CB8AC3E}">
        <p14:creationId xmlns:p14="http://schemas.microsoft.com/office/powerpoint/2010/main" val="1725724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7" r="-943" b="-1096"/>
          <a:stretch/>
        </p:blipFill>
        <p:spPr>
          <a:xfrm>
            <a:off x="5827143" y="2570364"/>
            <a:ext cx="5896604" cy="3030452"/>
          </a:xfrm>
          <a:prstGeom prst="rect">
            <a:avLst/>
          </a:prstGeom>
        </p:spPr>
      </p:pic>
      <p:graphicFrame>
        <p:nvGraphicFramePr>
          <p:cNvPr id="38" name="Diagram 37">
            <a:extLst>
              <a:ext uri="{FF2B5EF4-FFF2-40B4-BE49-F238E27FC236}">
                <a16:creationId xmlns:a16="http://schemas.microsoft.com/office/drawing/2014/main" id="{5C14F497-D47F-4EF4-B2F2-43325F15459B}"/>
              </a:ext>
            </a:extLst>
          </p:cNvPr>
          <p:cNvGraphicFramePr/>
          <p:nvPr>
            <p:extLst>
              <p:ext uri="{D42A27DB-BD31-4B8C-83A1-F6EECF244321}">
                <p14:modId xmlns:p14="http://schemas.microsoft.com/office/powerpoint/2010/main" val="2552172099"/>
              </p:ext>
            </p:extLst>
          </p:nvPr>
        </p:nvGraphicFramePr>
        <p:xfrm>
          <a:off x="2834400" y="1901069"/>
          <a:ext cx="7022420" cy="33090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 name="Graphic 39" descr="Lightbulb">
            <a:extLst>
              <a:ext uri="{FF2B5EF4-FFF2-40B4-BE49-F238E27FC236}">
                <a16:creationId xmlns:a16="http://schemas.microsoft.com/office/drawing/2014/main" id="{ABAD3AFC-D8E6-4AE1-AF3E-570E16C6C66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5636" y="2570364"/>
            <a:ext cx="1970421" cy="1970421"/>
          </a:xfrm>
          <a:prstGeom prst="rect">
            <a:avLst/>
          </a:prstGeom>
        </p:spPr>
      </p:pic>
      <p:sp>
        <p:nvSpPr>
          <p:cNvPr id="41" name="TextBox 40">
            <a:extLst>
              <a:ext uri="{FF2B5EF4-FFF2-40B4-BE49-F238E27FC236}">
                <a16:creationId xmlns:a16="http://schemas.microsoft.com/office/drawing/2014/main" id="{F29FEFDB-819F-4C62-B68E-9808C9397975}"/>
              </a:ext>
            </a:extLst>
          </p:cNvPr>
          <p:cNvSpPr txBox="1"/>
          <p:nvPr/>
        </p:nvSpPr>
        <p:spPr>
          <a:xfrm>
            <a:off x="5638800" y="2971800"/>
            <a:ext cx="914400" cy="914400"/>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6" name="Rectangle 45">
            <a:extLst>
              <a:ext uri="{FF2B5EF4-FFF2-40B4-BE49-F238E27FC236}">
                <a16:creationId xmlns:a16="http://schemas.microsoft.com/office/drawing/2014/main" id="{1803CDC8-C305-446E-9E66-83D09199F92B}"/>
              </a:ext>
            </a:extLst>
          </p:cNvPr>
          <p:cNvSpPr/>
          <p:nvPr/>
        </p:nvSpPr>
        <p:spPr>
          <a:xfrm>
            <a:off x="4200094" y="273626"/>
            <a:ext cx="3254096"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Objective</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855108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943A0352-72A7-417E-BE6F-27B62E26D2CB}"/>
              </a:ext>
            </a:extLst>
          </p:cNvPr>
          <p:cNvGraphicFramePr/>
          <p:nvPr>
            <p:extLst>
              <p:ext uri="{D42A27DB-BD31-4B8C-83A1-F6EECF244321}">
                <p14:modId xmlns:p14="http://schemas.microsoft.com/office/powerpoint/2010/main" val="60897458"/>
              </p:ext>
            </p:extLst>
          </p:nvPr>
        </p:nvGraphicFramePr>
        <p:xfrm>
          <a:off x="1708062" y="1449765"/>
          <a:ext cx="9902767" cy="53372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496BE39F-9131-4EBB-9CDE-338482DA891A}"/>
              </a:ext>
            </a:extLst>
          </p:cNvPr>
          <p:cNvSpPr txBox="1"/>
          <p:nvPr/>
        </p:nvSpPr>
        <p:spPr>
          <a:xfrm>
            <a:off x="3062514" y="3236686"/>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C3EFFD9-B298-40CE-A95B-4D02D4DAAD02}"/>
              </a:ext>
            </a:extLst>
          </p:cNvPr>
          <p:cNvSpPr txBox="1"/>
          <p:nvPr/>
        </p:nvSpPr>
        <p:spPr>
          <a:xfrm>
            <a:off x="6103256" y="1044922"/>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49EAC19F-36F6-4F7F-8C02-C64053F9CBF9}"/>
              </a:ext>
            </a:extLst>
          </p:cNvPr>
          <p:cNvSpPr/>
          <p:nvPr/>
        </p:nvSpPr>
        <p:spPr>
          <a:xfrm>
            <a:off x="3260077" y="243513"/>
            <a:ext cx="4800994"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Key Questions</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8" name="Graphic 7" descr="Question mark">
            <a:extLst>
              <a:ext uri="{FF2B5EF4-FFF2-40B4-BE49-F238E27FC236}">
                <a16:creationId xmlns:a16="http://schemas.microsoft.com/office/drawing/2014/main" id="{C5DB6D9C-3498-4E15-912E-425F0F358D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0740" y="3002793"/>
            <a:ext cx="1863844" cy="1901370"/>
          </a:xfrm>
          <a:prstGeom prst="rect">
            <a:avLst/>
          </a:prstGeom>
        </p:spPr>
      </p:pic>
    </p:spTree>
    <p:extLst>
      <p:ext uri="{BB962C8B-B14F-4D97-AF65-F5344CB8AC3E}">
        <p14:creationId xmlns:p14="http://schemas.microsoft.com/office/powerpoint/2010/main" val="4172374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8ABD3A-F5DC-4F13-9952-BF0FD4AA074A}"/>
              </a:ext>
            </a:extLst>
          </p:cNvPr>
          <p:cNvSpPr/>
          <p:nvPr/>
        </p:nvSpPr>
        <p:spPr>
          <a:xfrm>
            <a:off x="2430539" y="341287"/>
            <a:ext cx="7330918" cy="707886"/>
          </a:xfrm>
          <a:prstGeom prst="rect">
            <a:avLst/>
          </a:prstGeom>
          <a:noFill/>
        </p:spPr>
        <p:txBody>
          <a:bodyPr wrap="non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Student outcome distribution</a:t>
            </a:r>
          </a:p>
        </p:txBody>
      </p:sp>
      <p:pic>
        <p:nvPicPr>
          <p:cNvPr id="7" name="Picture 6">
            <a:extLst>
              <a:ext uri="{FF2B5EF4-FFF2-40B4-BE49-F238E27FC236}">
                <a16:creationId xmlns:a16="http://schemas.microsoft.com/office/drawing/2014/main" id="{A5F3A4E2-DC36-4905-A87F-E8A231CBE8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6514" y="1645916"/>
            <a:ext cx="8098972" cy="4246884"/>
          </a:xfrm>
          <a:prstGeom prst="rect">
            <a:avLst/>
          </a:prstGeom>
        </p:spPr>
      </p:pic>
      <p:sp>
        <p:nvSpPr>
          <p:cNvPr id="8" name="TextBox 7">
            <a:extLst>
              <a:ext uri="{FF2B5EF4-FFF2-40B4-BE49-F238E27FC236}">
                <a16:creationId xmlns:a16="http://schemas.microsoft.com/office/drawing/2014/main" id="{1F17D598-B792-4020-B621-61AE7097525B}"/>
              </a:ext>
            </a:extLst>
          </p:cNvPr>
          <p:cNvSpPr txBox="1"/>
          <p:nvPr/>
        </p:nvSpPr>
        <p:spPr>
          <a:xfrm>
            <a:off x="2888342" y="5892800"/>
            <a:ext cx="7257143" cy="623913"/>
          </a:xfrm>
          <a:prstGeom prst="rect">
            <a:avLst/>
          </a:prstGeom>
        </p:spPr>
        <p:txBody>
          <a:bodyPr vert="horz" wrap="none" lIns="91440" tIns="45720" rIns="91440" bIns="45720" rtlCol="0" anchor="b">
            <a:noAutofit/>
          </a:bodyPr>
          <a:lstStyle/>
          <a:p>
            <a:pPr marL="0" indent="0" algn="ctr">
              <a:lnSpc>
                <a:spcPts val="1800"/>
              </a:lnSpc>
              <a:spcAft>
                <a:spcPts val="600"/>
              </a:spcAft>
              <a:buNone/>
            </a:pPr>
            <a:r>
              <a:rPr lang="en-US" sz="2000" dirty="0">
                <a:solidFill>
                  <a:prstClr val="black">
                    <a:lumMod val="75000"/>
                    <a:lumOff val="25000"/>
                  </a:prstClr>
                </a:solidFill>
                <a:latin typeface="Segoe UI" panose="020B0502040204020203" pitchFamily="34" charset="0"/>
                <a:cs typeface="Segoe UI" panose="020B0502040204020203" pitchFamily="34" charset="0"/>
              </a:rPr>
              <a:t>32% of students dropped out</a:t>
            </a:r>
            <a:endParaRPr lang="en-GB" sz="20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5071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23C1DD-AC9F-4531-99C7-C6971C1C2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5883" y="1747515"/>
            <a:ext cx="9043434" cy="4480569"/>
          </a:xfrm>
          <a:prstGeom prst="rect">
            <a:avLst/>
          </a:prstGeom>
        </p:spPr>
      </p:pic>
      <p:sp>
        <p:nvSpPr>
          <p:cNvPr id="5" name="Rectangle 4">
            <a:extLst>
              <a:ext uri="{FF2B5EF4-FFF2-40B4-BE49-F238E27FC236}">
                <a16:creationId xmlns:a16="http://schemas.microsoft.com/office/drawing/2014/main" id="{AFBB95F8-3B9C-43F2-9B7E-3BE8B97DF028}"/>
              </a:ext>
            </a:extLst>
          </p:cNvPr>
          <p:cNvSpPr/>
          <p:nvPr/>
        </p:nvSpPr>
        <p:spPr>
          <a:xfrm>
            <a:off x="1042116" y="401935"/>
            <a:ext cx="10107767" cy="707886"/>
          </a:xfrm>
          <a:prstGeom prst="rect">
            <a:avLst/>
          </a:prstGeom>
          <a:noFill/>
        </p:spPr>
        <p:txBody>
          <a:bodyPr wrap="non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Significant predictors of student dropout</a:t>
            </a:r>
          </a:p>
        </p:txBody>
      </p:sp>
    </p:spTree>
    <p:extLst>
      <p:ext uri="{BB962C8B-B14F-4D97-AF65-F5344CB8AC3E}">
        <p14:creationId xmlns:p14="http://schemas.microsoft.com/office/powerpoint/2010/main" val="420684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DAA3F5-9184-44A1-9145-658FBD753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4113" y="1682201"/>
            <a:ext cx="7223774" cy="4480569"/>
          </a:xfrm>
          <a:prstGeom prst="rect">
            <a:avLst/>
          </a:prstGeom>
          <a:ln>
            <a:solidFill>
              <a:schemeClr val="accent2">
                <a:lumMod val="20000"/>
                <a:lumOff val="80000"/>
              </a:schemeClr>
            </a:solidFill>
          </a:ln>
        </p:spPr>
      </p:pic>
      <p:sp>
        <p:nvSpPr>
          <p:cNvPr id="5" name="Rectangle 4">
            <a:extLst>
              <a:ext uri="{FF2B5EF4-FFF2-40B4-BE49-F238E27FC236}">
                <a16:creationId xmlns:a16="http://schemas.microsoft.com/office/drawing/2014/main" id="{CA8ABD3A-F5DC-4F13-9952-BF0FD4AA074A}"/>
              </a:ext>
            </a:extLst>
          </p:cNvPr>
          <p:cNvSpPr/>
          <p:nvPr/>
        </p:nvSpPr>
        <p:spPr>
          <a:xfrm>
            <a:off x="520851" y="341287"/>
            <a:ext cx="11150297" cy="707886"/>
          </a:xfrm>
          <a:prstGeom prst="rect">
            <a:avLst/>
          </a:prstGeom>
          <a:noFill/>
        </p:spPr>
        <p:txBody>
          <a:bodyPr wrap="non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Impact of financial factors on student success</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931467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435831-42EA-4856-8B65-24A11624C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399" y="1605058"/>
            <a:ext cx="7223774" cy="4489713"/>
          </a:xfrm>
          <a:prstGeom prst="rect">
            <a:avLst/>
          </a:prstGeom>
        </p:spPr>
      </p:pic>
      <p:sp>
        <p:nvSpPr>
          <p:cNvPr id="8" name="TextBox 7">
            <a:extLst>
              <a:ext uri="{FF2B5EF4-FFF2-40B4-BE49-F238E27FC236}">
                <a16:creationId xmlns:a16="http://schemas.microsoft.com/office/drawing/2014/main" id="{B5AA5139-AB28-4020-AF67-DE536F1C29E9}"/>
              </a:ext>
            </a:extLst>
          </p:cNvPr>
          <p:cNvSpPr txBox="1"/>
          <p:nvPr/>
        </p:nvSpPr>
        <p:spPr>
          <a:xfrm>
            <a:off x="571500" y="306029"/>
            <a:ext cx="11049000" cy="914400"/>
          </a:xfrm>
          <a:prstGeom prst="rect">
            <a:avLst/>
          </a:prstGeom>
        </p:spPr>
        <p:txBody>
          <a:bodyPr vert="horz" wrap="none" lIns="91440" tIns="45720" rIns="91440" bIns="45720" rtlCol="0">
            <a:no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Impact of financial factors on student success</a:t>
            </a:r>
          </a:p>
        </p:txBody>
      </p:sp>
      <p:sp>
        <p:nvSpPr>
          <p:cNvPr id="9" name="TextBox 8">
            <a:extLst>
              <a:ext uri="{FF2B5EF4-FFF2-40B4-BE49-F238E27FC236}">
                <a16:creationId xmlns:a16="http://schemas.microsoft.com/office/drawing/2014/main" id="{BEE1CE44-2735-4112-A2D8-A7F1B19F17CE}"/>
              </a:ext>
            </a:extLst>
          </p:cNvPr>
          <p:cNvSpPr txBox="1"/>
          <p:nvPr/>
        </p:nvSpPr>
        <p:spPr>
          <a:xfrm>
            <a:off x="5562600" y="431800"/>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12620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C5CE9C-85BC-4BE5-B3BE-EC787F62F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5600" y="1552493"/>
            <a:ext cx="7860800" cy="4954992"/>
          </a:xfrm>
          <a:prstGeom prst="rect">
            <a:avLst/>
          </a:prstGeom>
        </p:spPr>
      </p:pic>
      <p:sp>
        <p:nvSpPr>
          <p:cNvPr id="5" name="Rectangle 4">
            <a:extLst>
              <a:ext uri="{FF2B5EF4-FFF2-40B4-BE49-F238E27FC236}">
                <a16:creationId xmlns:a16="http://schemas.microsoft.com/office/drawing/2014/main" id="{E4376BBA-3B27-4E8C-8444-915178502DB5}"/>
              </a:ext>
            </a:extLst>
          </p:cNvPr>
          <p:cNvSpPr/>
          <p:nvPr/>
        </p:nvSpPr>
        <p:spPr>
          <a:xfrm>
            <a:off x="1336588" y="350515"/>
            <a:ext cx="9518823" cy="707886"/>
          </a:xfrm>
          <a:prstGeom prst="rect">
            <a:avLst/>
          </a:prstGeom>
          <a:noFill/>
        </p:spPr>
        <p:txBody>
          <a:bodyPr wrap="non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Student behavior impact on academics</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739393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BF4A2C-7C24-4804-B8BF-9DBD6C6DC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4323" y="1582415"/>
            <a:ext cx="8403353" cy="4480569"/>
          </a:xfrm>
          <a:prstGeom prst="rect">
            <a:avLst/>
          </a:prstGeom>
        </p:spPr>
      </p:pic>
      <p:sp>
        <p:nvSpPr>
          <p:cNvPr id="4" name="Rectangle 3">
            <a:extLst>
              <a:ext uri="{FF2B5EF4-FFF2-40B4-BE49-F238E27FC236}">
                <a16:creationId xmlns:a16="http://schemas.microsoft.com/office/drawing/2014/main" id="{7D626E0A-76EC-4483-A0B0-E4DE35394F54}"/>
              </a:ext>
            </a:extLst>
          </p:cNvPr>
          <p:cNvSpPr/>
          <p:nvPr/>
        </p:nvSpPr>
        <p:spPr>
          <a:xfrm>
            <a:off x="3043112" y="351135"/>
            <a:ext cx="6105774" cy="707886"/>
          </a:xfrm>
          <a:prstGeom prst="rect">
            <a:avLst/>
          </a:prstGeom>
          <a:noFill/>
        </p:spPr>
        <p:txBody>
          <a:bodyPr wrap="non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Employability prediction</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64436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650F71-991F-4E31-8040-116394DCA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8383" y="1582415"/>
            <a:ext cx="9043434" cy="4480569"/>
          </a:xfrm>
          <a:prstGeom prst="rect">
            <a:avLst/>
          </a:prstGeom>
        </p:spPr>
      </p:pic>
      <p:sp>
        <p:nvSpPr>
          <p:cNvPr id="5" name="Rectangle 4">
            <a:extLst>
              <a:ext uri="{FF2B5EF4-FFF2-40B4-BE49-F238E27FC236}">
                <a16:creationId xmlns:a16="http://schemas.microsoft.com/office/drawing/2014/main" id="{913C6731-7CA9-4A2E-9381-8956E18B4796}"/>
              </a:ext>
            </a:extLst>
          </p:cNvPr>
          <p:cNvSpPr/>
          <p:nvPr/>
        </p:nvSpPr>
        <p:spPr>
          <a:xfrm>
            <a:off x="2624013" y="333351"/>
            <a:ext cx="6105774" cy="707886"/>
          </a:xfrm>
          <a:prstGeom prst="rect">
            <a:avLst/>
          </a:prstGeom>
          <a:noFill/>
        </p:spPr>
        <p:txBody>
          <a:bodyPr wrap="none" lIns="91440" tIns="45720" rIns="91440" bIns="45720">
            <a:spAutoFit/>
          </a:bodyPr>
          <a:lstStyle/>
          <a:p>
            <a:pPr algn="ctr"/>
            <a:r>
              <a:rPr lang="en-US" sz="4000" b="1">
                <a:ln w="9525">
                  <a:solidFill>
                    <a:schemeClr val="bg1"/>
                  </a:solidFill>
                  <a:prstDash val="solid"/>
                </a:ln>
                <a:effectLst>
                  <a:outerShdw blurRad="12700" dist="38100" dir="2700000" algn="tl" rotWithShape="0">
                    <a:schemeClr val="bg1">
                      <a:lumMod val="50000"/>
                    </a:schemeClr>
                  </a:outerShdw>
                </a:effectLst>
              </a:rPr>
              <a:t>Employability prediction</a:t>
            </a:r>
            <a:endParaRPr lang="en-US" sz="4000" b="1" dirty="0">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160679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A160DD-CF46-4E03-9F46-331D80884FDB}"/>
              </a:ext>
            </a:extLst>
          </p:cNvPr>
          <p:cNvSpPr txBox="1"/>
          <p:nvPr/>
        </p:nvSpPr>
        <p:spPr>
          <a:xfrm>
            <a:off x="5638800" y="2975113"/>
            <a:ext cx="914400" cy="914400"/>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6" name="Diagram 5">
            <a:extLst>
              <a:ext uri="{FF2B5EF4-FFF2-40B4-BE49-F238E27FC236}">
                <a16:creationId xmlns:a16="http://schemas.microsoft.com/office/drawing/2014/main" id="{F69C502A-94E1-4C1E-A813-F3721C3A86CB}"/>
              </a:ext>
            </a:extLst>
          </p:cNvPr>
          <p:cNvGraphicFramePr/>
          <p:nvPr>
            <p:extLst>
              <p:ext uri="{D42A27DB-BD31-4B8C-83A1-F6EECF244321}">
                <p14:modId xmlns:p14="http://schemas.microsoft.com/office/powerpoint/2010/main" val="922165011"/>
              </p:ext>
            </p:extLst>
          </p:nvPr>
        </p:nvGraphicFramePr>
        <p:xfrm>
          <a:off x="604434" y="1320801"/>
          <a:ext cx="10983132" cy="340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7E296D4C-794A-4838-AF14-D12858DC75FE}"/>
              </a:ext>
            </a:extLst>
          </p:cNvPr>
          <p:cNvSpPr/>
          <p:nvPr/>
        </p:nvSpPr>
        <p:spPr>
          <a:xfrm>
            <a:off x="1655862" y="277932"/>
            <a:ext cx="8619027"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Answers to key questions </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aphicFrame>
        <p:nvGraphicFramePr>
          <p:cNvPr id="12" name="Diagram 11">
            <a:extLst>
              <a:ext uri="{FF2B5EF4-FFF2-40B4-BE49-F238E27FC236}">
                <a16:creationId xmlns:a16="http://schemas.microsoft.com/office/drawing/2014/main" id="{C341D92C-0B2C-4CB1-A5BF-984A03E73A76}"/>
              </a:ext>
            </a:extLst>
          </p:cNvPr>
          <p:cNvGraphicFramePr/>
          <p:nvPr>
            <p:extLst>
              <p:ext uri="{D42A27DB-BD31-4B8C-83A1-F6EECF244321}">
                <p14:modId xmlns:p14="http://schemas.microsoft.com/office/powerpoint/2010/main" val="2479685522"/>
              </p:ext>
            </p:extLst>
          </p:nvPr>
        </p:nvGraphicFramePr>
        <p:xfrm>
          <a:off x="604434" y="4724400"/>
          <a:ext cx="10983132" cy="17653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5" name="Diagram 14">
            <a:extLst>
              <a:ext uri="{FF2B5EF4-FFF2-40B4-BE49-F238E27FC236}">
                <a16:creationId xmlns:a16="http://schemas.microsoft.com/office/drawing/2014/main" id="{484C3ACA-3187-4F40-BFF5-50F1B879A9FD}"/>
              </a:ext>
            </a:extLst>
          </p:cNvPr>
          <p:cNvGraphicFramePr/>
          <p:nvPr>
            <p:extLst>
              <p:ext uri="{D42A27DB-BD31-4B8C-83A1-F6EECF244321}">
                <p14:modId xmlns:p14="http://schemas.microsoft.com/office/powerpoint/2010/main" val="1123980601"/>
              </p:ext>
            </p:extLst>
          </p:nvPr>
        </p:nvGraphicFramePr>
        <p:xfrm>
          <a:off x="604434" y="4604861"/>
          <a:ext cx="10983132" cy="238910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350100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973C7C-CCE6-48A1-B015-E33A560C2B63}"/>
              </a:ext>
            </a:extLst>
          </p:cNvPr>
          <p:cNvSpPr txBox="1"/>
          <p:nvPr/>
        </p:nvSpPr>
        <p:spPr>
          <a:xfrm>
            <a:off x="3029803" y="109182"/>
            <a:ext cx="5308979"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54938A95-847D-416E-AD9A-4CB83967294E}"/>
              </a:ext>
            </a:extLst>
          </p:cNvPr>
          <p:cNvSpPr/>
          <p:nvPr/>
        </p:nvSpPr>
        <p:spPr>
          <a:xfrm>
            <a:off x="1303330" y="438807"/>
            <a:ext cx="9257791" cy="584775"/>
          </a:xfrm>
          <a:prstGeom prst="rect">
            <a:avLst/>
          </a:prstGeom>
        </p:spPr>
        <p:txBody>
          <a:bodyPr wrap="none">
            <a:spAutoFit/>
          </a:bodyPr>
          <a:lstStyle/>
          <a:p>
            <a:pPr algn="ctr"/>
            <a:r>
              <a:rPr lang="en-US" sz="3200" b="1" dirty="0"/>
              <a:t>FINAL EVALUATION &amp; PROJECT CONCLUSIONS</a:t>
            </a:r>
            <a:endParaRPr lang="en-US" sz="3200" dirty="0"/>
          </a:p>
        </p:txBody>
      </p:sp>
      <p:sp>
        <p:nvSpPr>
          <p:cNvPr id="7" name="TextBox 6">
            <a:extLst>
              <a:ext uri="{FF2B5EF4-FFF2-40B4-BE49-F238E27FC236}">
                <a16:creationId xmlns:a16="http://schemas.microsoft.com/office/drawing/2014/main" id="{37474CCF-ACCA-4F54-BEB1-FD85052AEBFD}"/>
              </a:ext>
            </a:extLst>
          </p:cNvPr>
          <p:cNvSpPr txBox="1"/>
          <p:nvPr/>
        </p:nvSpPr>
        <p:spPr>
          <a:xfrm>
            <a:off x="682388" y="1514901"/>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9" name="Rectangle 8">
            <a:extLst>
              <a:ext uri="{FF2B5EF4-FFF2-40B4-BE49-F238E27FC236}">
                <a16:creationId xmlns:a16="http://schemas.microsoft.com/office/drawing/2014/main" id="{888BC1B1-3F6B-4325-9761-84683DE793C9}"/>
              </a:ext>
            </a:extLst>
          </p:cNvPr>
          <p:cNvSpPr/>
          <p:nvPr/>
        </p:nvSpPr>
        <p:spPr>
          <a:xfrm>
            <a:off x="550460" y="1353207"/>
            <a:ext cx="11132024" cy="1477328"/>
          </a:xfrm>
          <a:prstGeom prst="rect">
            <a:avLst/>
          </a:prstGeom>
        </p:spPr>
        <p:txBody>
          <a:bodyPr wrap="square">
            <a:spAutoFit/>
          </a:bodyPr>
          <a:lstStyle/>
          <a:p>
            <a:r>
              <a:rPr lang="en-US" dirty="0"/>
              <a:t>Project Deliverables Checklist &amp; Objectives Review:</a:t>
            </a:r>
          </a:p>
          <a:p>
            <a:endParaRPr lang="en-US" dirty="0"/>
          </a:p>
          <a:p>
            <a:r>
              <a:rPr lang="en-US" dirty="0"/>
              <a:t>At the beginning of this Capstone, we set out to build a comprehensive, multi-layered AI system. Here is our final evaluation:</a:t>
            </a:r>
          </a:p>
          <a:p>
            <a:endParaRPr lang="en-US" dirty="0"/>
          </a:p>
        </p:txBody>
      </p:sp>
      <p:sp>
        <p:nvSpPr>
          <p:cNvPr id="10" name="TextBox 9">
            <a:extLst>
              <a:ext uri="{FF2B5EF4-FFF2-40B4-BE49-F238E27FC236}">
                <a16:creationId xmlns:a16="http://schemas.microsoft.com/office/drawing/2014/main" id="{3E7F1CB2-6B2E-4EFF-A36E-438D07A81625}"/>
              </a:ext>
            </a:extLst>
          </p:cNvPr>
          <p:cNvSpPr txBox="1"/>
          <p:nvPr/>
        </p:nvSpPr>
        <p:spPr>
          <a:xfrm>
            <a:off x="6665843" y="4664765"/>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12" name="Diagram 11">
            <a:extLst>
              <a:ext uri="{FF2B5EF4-FFF2-40B4-BE49-F238E27FC236}">
                <a16:creationId xmlns:a16="http://schemas.microsoft.com/office/drawing/2014/main" id="{49C96622-B35A-4C16-91F9-6DC422AF0B91}"/>
              </a:ext>
            </a:extLst>
          </p:cNvPr>
          <p:cNvGraphicFramePr/>
          <p:nvPr>
            <p:extLst>
              <p:ext uri="{D42A27DB-BD31-4B8C-83A1-F6EECF244321}">
                <p14:modId xmlns:p14="http://schemas.microsoft.com/office/powerpoint/2010/main" val="3250950277"/>
              </p:ext>
            </p:extLst>
          </p:nvPr>
        </p:nvGraphicFramePr>
        <p:xfrm>
          <a:off x="845370" y="2590996"/>
          <a:ext cx="10542203" cy="3828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517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446C3B-D108-4FB2-A385-1011E63F3204}"/>
              </a:ext>
            </a:extLst>
          </p:cNvPr>
          <p:cNvSpPr txBox="1"/>
          <p:nvPr/>
        </p:nvSpPr>
        <p:spPr>
          <a:xfrm>
            <a:off x="4770783" y="2438400"/>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73D5392-0CB2-4598-8A13-32D100DCADB8}"/>
              </a:ext>
            </a:extLst>
          </p:cNvPr>
          <p:cNvSpPr txBox="1"/>
          <p:nvPr/>
        </p:nvSpPr>
        <p:spPr>
          <a:xfrm>
            <a:off x="5638800" y="2716695"/>
            <a:ext cx="914400" cy="914400"/>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7" name="Diagram 6">
            <a:extLst>
              <a:ext uri="{FF2B5EF4-FFF2-40B4-BE49-F238E27FC236}">
                <a16:creationId xmlns:a16="http://schemas.microsoft.com/office/drawing/2014/main" id="{E3226F3A-A0B8-4447-8730-6E5748B6AAE5}"/>
              </a:ext>
            </a:extLst>
          </p:cNvPr>
          <p:cNvGraphicFramePr/>
          <p:nvPr>
            <p:extLst>
              <p:ext uri="{D42A27DB-BD31-4B8C-83A1-F6EECF244321}">
                <p14:modId xmlns:p14="http://schemas.microsoft.com/office/powerpoint/2010/main" val="4131931097"/>
              </p:ext>
            </p:extLst>
          </p:nvPr>
        </p:nvGraphicFramePr>
        <p:xfrm>
          <a:off x="795130" y="1305342"/>
          <a:ext cx="10654747" cy="47509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44790A9D-B2D9-4E5D-A736-0917682CB42E}"/>
              </a:ext>
            </a:extLst>
          </p:cNvPr>
          <p:cNvSpPr txBox="1"/>
          <p:nvPr/>
        </p:nvSpPr>
        <p:spPr>
          <a:xfrm>
            <a:off x="5976730" y="344557"/>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Rectangle 10">
            <a:extLst>
              <a:ext uri="{FF2B5EF4-FFF2-40B4-BE49-F238E27FC236}">
                <a16:creationId xmlns:a16="http://schemas.microsoft.com/office/drawing/2014/main" id="{63574DC6-8697-4F12-B2A1-21179BC11F98}"/>
              </a:ext>
            </a:extLst>
          </p:cNvPr>
          <p:cNvSpPr/>
          <p:nvPr/>
        </p:nvSpPr>
        <p:spPr>
          <a:xfrm>
            <a:off x="1056287" y="509369"/>
            <a:ext cx="9257791" cy="584775"/>
          </a:xfrm>
          <a:prstGeom prst="rect">
            <a:avLst/>
          </a:prstGeom>
        </p:spPr>
        <p:txBody>
          <a:bodyPr wrap="none">
            <a:spAutoFit/>
          </a:bodyPr>
          <a:lstStyle/>
          <a:p>
            <a:pPr algn="ctr"/>
            <a:r>
              <a:rPr lang="en-US" sz="3200" b="1" dirty="0"/>
              <a:t>FINAL EVALUATION &amp; PROJECT CONCLUSIONS</a:t>
            </a:r>
            <a:endParaRPr lang="en-US" sz="3200" dirty="0"/>
          </a:p>
        </p:txBody>
      </p:sp>
    </p:spTree>
    <p:extLst>
      <p:ext uri="{BB962C8B-B14F-4D97-AF65-F5344CB8AC3E}">
        <p14:creationId xmlns:p14="http://schemas.microsoft.com/office/powerpoint/2010/main" val="2161871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BD427B-FB7D-464D-A301-66FA9C0162C2}"/>
              </a:ext>
            </a:extLst>
          </p:cNvPr>
          <p:cNvSpPr txBox="1"/>
          <p:nvPr/>
        </p:nvSpPr>
        <p:spPr>
          <a:xfrm>
            <a:off x="4731026" y="1802296"/>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5" name="Diagram 4">
            <a:extLst>
              <a:ext uri="{FF2B5EF4-FFF2-40B4-BE49-F238E27FC236}">
                <a16:creationId xmlns:a16="http://schemas.microsoft.com/office/drawing/2014/main" id="{F8DD2551-FEC0-40FA-91D1-5009119E0B63}"/>
              </a:ext>
            </a:extLst>
          </p:cNvPr>
          <p:cNvGraphicFramePr/>
          <p:nvPr>
            <p:extLst>
              <p:ext uri="{D42A27DB-BD31-4B8C-83A1-F6EECF244321}">
                <p14:modId xmlns:p14="http://schemas.microsoft.com/office/powerpoint/2010/main" val="704003047"/>
              </p:ext>
            </p:extLst>
          </p:nvPr>
        </p:nvGraphicFramePr>
        <p:xfrm>
          <a:off x="595086" y="1436914"/>
          <a:ext cx="10958285" cy="5091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58198E2-FB52-4293-BACD-3D7A2E08202D}"/>
              </a:ext>
            </a:extLst>
          </p:cNvPr>
          <p:cNvSpPr txBox="1"/>
          <p:nvPr/>
        </p:nvSpPr>
        <p:spPr>
          <a:xfrm>
            <a:off x="1239078" y="329366"/>
            <a:ext cx="9713843" cy="935247"/>
          </a:xfrm>
          <a:prstGeom prst="rect">
            <a:avLst/>
          </a:prstGeom>
        </p:spPr>
        <p:txBody>
          <a:bodyPr vert="horz" wrap="none" lIns="91440" tIns="45720" rIns="91440" bIns="45720" rtlCol="0">
            <a:noAutofit/>
          </a:bodyPr>
          <a:lstStyle/>
          <a:p>
            <a:pPr algn="r"/>
            <a:r>
              <a:rPr lang="en-US" sz="3200" b="1" dirty="0"/>
              <a:t>For University Administration &amp; Career Services</a:t>
            </a:r>
            <a:endParaRPr lang="en-US" sz="3200" dirty="0"/>
          </a:p>
        </p:txBody>
      </p:sp>
    </p:spTree>
    <p:extLst>
      <p:ext uri="{BB962C8B-B14F-4D97-AF65-F5344CB8AC3E}">
        <p14:creationId xmlns:p14="http://schemas.microsoft.com/office/powerpoint/2010/main" val="3676350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FA3E1CB-43B0-4BA0-B4C7-604E3683B39C}"/>
              </a:ext>
            </a:extLst>
          </p:cNvPr>
          <p:cNvGraphicFramePr/>
          <p:nvPr>
            <p:extLst>
              <p:ext uri="{D42A27DB-BD31-4B8C-83A1-F6EECF244321}">
                <p14:modId xmlns:p14="http://schemas.microsoft.com/office/powerpoint/2010/main" val="344431332"/>
              </p:ext>
            </p:extLst>
          </p:nvPr>
        </p:nvGraphicFramePr>
        <p:xfrm>
          <a:off x="537207" y="1291770"/>
          <a:ext cx="11117586" cy="5355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4C241859-7D49-4B5D-AE5E-88EA31E5BEDA}"/>
              </a:ext>
            </a:extLst>
          </p:cNvPr>
          <p:cNvSpPr/>
          <p:nvPr/>
        </p:nvSpPr>
        <p:spPr>
          <a:xfrm>
            <a:off x="3713129" y="368440"/>
            <a:ext cx="3749744" cy="923330"/>
          </a:xfrm>
          <a:prstGeom prst="rect">
            <a:avLst/>
          </a:prstGeom>
          <a:noFill/>
        </p:spPr>
        <p:txBody>
          <a:bodyPr wrap="none" lIns="91440" tIns="45720" rIns="91440" bIns="45720">
            <a:spAutoFit/>
          </a:bodyPr>
          <a:lstStyle/>
          <a:p>
            <a:pPr algn="ctr"/>
            <a:r>
              <a:rPr lang="en-US" sz="5400" b="1" dirty="0">
                <a:ln w="9525">
                  <a:solidFill>
                    <a:schemeClr val="accent2">
                      <a:lumMod val="20000"/>
                      <a:lumOff val="80000"/>
                    </a:schemeClr>
                  </a:solidFill>
                  <a:prstDash val="solid"/>
                </a:ln>
                <a:effectLst>
                  <a:outerShdw blurRad="12700" dist="38100" dir="2700000" algn="tl" rotWithShape="0">
                    <a:schemeClr val="bg1">
                      <a:lumMod val="50000"/>
                    </a:schemeClr>
                  </a:outerShdw>
                </a:effectLst>
              </a:rPr>
              <a:t>Conclusion</a:t>
            </a:r>
            <a:endParaRPr lang="en-US" sz="5400" b="1" cap="none" spc="0" dirty="0">
              <a:ln w="9525">
                <a:solidFill>
                  <a:schemeClr val="accent2">
                    <a:lumMod val="20000"/>
                    <a:lumOff val="80000"/>
                  </a:schemeClr>
                </a:solidFill>
                <a:prstDash val="solid"/>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Tree>
    <p:extLst>
      <p:ext uri="{BB962C8B-B14F-4D97-AF65-F5344CB8AC3E}">
        <p14:creationId xmlns:p14="http://schemas.microsoft.com/office/powerpoint/2010/main" val="109025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21208" y="1536192"/>
            <a:ext cx="6876288" cy="640080"/>
          </a:xfrm>
        </p:spPr>
        <p:txBody>
          <a:bodyPr>
            <a:normAutofit/>
          </a:bodyPr>
          <a:lstStyle/>
          <a:p>
            <a:r>
              <a:rPr lang="en-US" dirty="0">
                <a:latin typeface="Segoe UI Light" panose="020B0502040204020203" pitchFamily="34" charset="0"/>
                <a:cs typeface="Segoe UI Light" panose="020B0502040204020203" pitchFamily="34" charset="0"/>
              </a:rPr>
              <a:t>Thank You!</a:t>
            </a:r>
          </a:p>
        </p:txBody>
      </p:sp>
      <p:sp>
        <p:nvSpPr>
          <p:cNvPr id="4" name="TextBox 3">
            <a:extLst>
              <a:ext uri="{FF2B5EF4-FFF2-40B4-BE49-F238E27FC236}">
                <a16:creationId xmlns:a16="http://schemas.microsoft.com/office/drawing/2014/main" id="{F8613DA7-AED0-4AC2-AB03-4950232DCB25}"/>
              </a:ext>
            </a:extLst>
          </p:cNvPr>
          <p:cNvSpPr txBox="1"/>
          <p:nvPr/>
        </p:nvSpPr>
        <p:spPr>
          <a:xfrm>
            <a:off x="2184400" y="3714141"/>
            <a:ext cx="4432300" cy="1375736"/>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63EBF465-B606-42B3-94BA-154488C611A5}"/>
              </a:ext>
            </a:extLst>
          </p:cNvPr>
          <p:cNvSpPr txBox="1"/>
          <p:nvPr/>
        </p:nvSpPr>
        <p:spPr>
          <a:xfrm>
            <a:off x="838200" y="3727866"/>
            <a:ext cx="5003800" cy="1749293"/>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998FBB5B-88AC-4E68-9BB7-47508CB818DE}"/>
              </a:ext>
            </a:extLst>
          </p:cNvPr>
          <p:cNvSpPr txBox="1"/>
          <p:nvPr/>
        </p:nvSpPr>
        <p:spPr>
          <a:xfrm>
            <a:off x="3534466" y="2913142"/>
            <a:ext cx="6774068" cy="2977733"/>
          </a:xfrm>
          <a:prstGeom prst="rect">
            <a:avLst/>
          </a:prstGeom>
        </p:spPr>
        <p:txBody>
          <a:bodyPr vert="horz" wrap="none" lIns="91440" tIns="45720" rIns="91440" bIns="45720" rtlCol="0">
            <a:noAutofit/>
          </a:bodyPr>
          <a:lstStyle/>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hlinkClick r:id="rId3"/>
              </a:rPr>
              <a:t>andrew@gmail.com</a:t>
            </a:r>
            <a:endParaRPr lang="en-US" sz="14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rPr>
              <a:t>+254 769 224119</a:t>
            </a:r>
          </a:p>
          <a:p>
            <a:pPr>
              <a:lnSpc>
                <a:spcPts val="1800"/>
              </a:lnSpc>
              <a:spcAft>
                <a:spcPts val="600"/>
              </a:spcAft>
            </a:pPr>
            <a:r>
              <a:rPr lang="en-GB" dirty="0"/>
              <a:t>angela.wachira@student.moringaschool.com</a:t>
            </a:r>
            <a:endParaRPr lang="en-US" sz="14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rPr>
              <a:t>+254 795 799763</a:t>
            </a: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hlinkClick r:id="rId4"/>
              </a:rPr>
              <a:t>bodookeyo@gmail.com</a:t>
            </a:r>
            <a:endParaRPr lang="en-US" sz="14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rPr>
              <a:t>+254 7188 80888</a:t>
            </a: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hlinkClick r:id="rId5"/>
              </a:rPr>
              <a:t>mercy@gmail.com</a:t>
            </a:r>
            <a:endParaRPr lang="en-US" sz="14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rPr>
              <a:t>+254 716 177610</a:t>
            </a: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hlinkClick r:id="rId6"/>
              </a:rPr>
              <a:t>ted@gmail.com</a:t>
            </a:r>
            <a:endParaRPr lang="en-US" sz="14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400" b="1" dirty="0">
                <a:solidFill>
                  <a:prstClr val="black">
                    <a:lumMod val="75000"/>
                    <a:lumOff val="25000"/>
                  </a:prstClr>
                </a:solidFill>
                <a:latin typeface="Segoe UI" panose="020B0502040204020203" pitchFamily="34" charset="0"/>
                <a:cs typeface="Segoe UI" panose="020B0502040204020203" pitchFamily="34" charset="0"/>
              </a:rPr>
              <a:t>+254 790 465883</a:t>
            </a:r>
          </a:p>
          <a:p>
            <a:pPr marL="0" indent="0" algn="l">
              <a:lnSpc>
                <a:spcPts val="1800"/>
              </a:lnSpc>
              <a:spcAft>
                <a:spcPts val="600"/>
              </a:spcAft>
              <a:buNone/>
            </a:pPr>
            <a:endParaRPr lang="en-GB"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15" name="Graphic 14" descr="Speaker Phone">
            <a:extLst>
              <a:ext uri="{FF2B5EF4-FFF2-40B4-BE49-F238E27FC236}">
                <a16:creationId xmlns:a16="http://schemas.microsoft.com/office/drawing/2014/main" id="{5A5EA416-C5C1-4FE5-8E6D-4CDC9BC4513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27200" y="3130134"/>
            <a:ext cx="914400" cy="914400"/>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M16411177_Bring Your Presentations_win32_mlw - v3" id="{DE0A717D-0B12-4D44-8613-A03A4CD6D7EE}" vid="{30B64ACD-7D47-478C-8DC1-E97D1D0752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480f6609812271f56e53f2aff71704">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b48d77c16982ba2890c3fe2b4c067b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620A972-1CDD-4EF3-89C2-EBD9E5E1FD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A56FF6-92BD-46DE-9059-01B9F08E8880}">
  <ds:schemaRefs>
    <ds:schemaRef ds:uri="http://schemas.microsoft.com/sharepoint/v3/contenttype/forms"/>
  </ds:schemaRefs>
</ds:datastoreItem>
</file>

<file path=customXml/itemProps3.xml><?xml version="1.0" encoding="utf-8"?>
<ds:datastoreItem xmlns:ds="http://schemas.openxmlformats.org/officeDocument/2006/customXml" ds:itemID="{FB90717D-CB20-4004-8DD0-01756D9D039A}">
  <ds:schemaRefs>
    <ds:schemaRef ds:uri="http://purl.org/dc/dcmitype/"/>
    <ds:schemaRef ds:uri="http://schemas.microsoft.com/office/2006/documentManagement/types"/>
    <ds:schemaRef ds:uri="16c05727-aa75-4e4a-9b5f-8a80a1165891"/>
    <ds:schemaRef ds:uri="http://purl.org/dc/elements/1.1/"/>
    <ds:schemaRef ds:uri="http://schemas.openxmlformats.org/package/2006/metadata/core-properties"/>
    <ds:schemaRef ds:uri="http://purl.org/dc/terms/"/>
    <ds:schemaRef ds:uri="71af3243-3dd4-4a8d-8c0d-dd76da1f02a5"/>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Bring your presentations to life with 3D</Template>
  <TotalTime>0</TotalTime>
  <Words>910</Words>
  <Application>Microsoft Office PowerPoint</Application>
  <PresentationFormat>Widescreen</PresentationFormat>
  <Paragraphs>70</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Segoe UI</vt:lpstr>
      <vt:lpstr>Segoe UI Light</vt:lpstr>
      <vt:lpstr>Get Started with 3D</vt:lpstr>
      <vt:lpstr>AI-Powered Student Risk &amp; Employability Predictor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2026-05-18T17:17:29Z</dcterms:created>
  <dcterms:modified xsi:type="dcterms:W3CDTF">2026-05-19T16:55:15Z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